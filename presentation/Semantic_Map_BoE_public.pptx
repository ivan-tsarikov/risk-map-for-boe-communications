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11"/>
    <p:sldId id="266" r:id="rId10"/>
  </p:sldIdLst>
  <p:sldSz cx="12192119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096" y="17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10.11.2022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10.11.2022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Semantic Map of Regional Media Agendas for Central-Bank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MVP системы раннего выявления региональных коммуникационных рисков на локальных новостях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800000"/>
            <a:ext cx="5940000" cy="18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Проект строит интерпретируемую semantic map региональных тем, значимых для коммуникации центрального банка.</a:t>
            </a:r>
          </a:p>
          <a:p>
            <a:pPr algn="l"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Основной результат — недельный региональный индекс, который показывает, где конкретная тема усиливается относительно собственной локальной истории.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960000"/>
            <a:ext cx="5940000" cy="1368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2556A7"/>
                </a:solidFill>
              </a:defRPr>
            </a:pPr>
            <a:r>
              <a:t>Краткая схема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Pipeline: news corpus -&gt; candidate gate -&gt; story embeddings -&gt; econ gate -&gt; BoE topics -&gt; regional risk index -&gt; maps and trends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Текущая версия результатов относится к режиму sampled semantic pilot.</a:t>
            </a:r>
          </a:p>
        </p:txBody>
      </p:sp>
      <p:pic>
        <p:nvPicPr>
          <p:cNvPr id="16" name="Picture 15" descr="overall_top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954" y="1728000"/>
            <a:ext cx="3846091" cy="43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Постановка задачи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Задача проекта — перейти от локальных новостей к интерпретируемой региональной карте тем и рисков.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620000"/>
            <a:ext cx="5544000" cy="37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Центральному банку важно видеть не только общенациональную медиаповестку, но и региональные темы, которые усиливаются раньше или заметнее в локальном информационном поле.</a:t>
            </a:r>
          </a:p>
          <a:p>
            <a:pPr algn="l"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Локальные онлайн-медиа позволяют наблюдать эту динамику на уровне административных районов, если тексты очищены, снабжены региональной привязкой и приведены к единому временно́му шагу.</a:t>
            </a:r>
          </a:p>
          <a:p>
            <a:pPr algn="l"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Цель MVP состоит в том, чтобы для каждой недели определить, какая тема Bank of England усиливается в конкретном регионе и насколько этот сигнал отклоняется от собственной локальной нормы.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2000" y="1872000"/>
            <a:ext cx="4896000" cy="3311999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2556A7"/>
                </a:solidFill>
              </a:defRPr>
            </a:pPr>
            <a:r>
              <a:t>Логика решения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Этап 1. Очистка и нормализация корпуса.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Этап 2. Отбор candidate-статей.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Этап 3. Story-level embeddings.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Этап 4. Semantic econ gate и присвоение тем BoE.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Этап 5. Построение регионального индекса, карт и трендов.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Источник данных и пригодность корпуса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Источник данных — articles.csv из открытого корпуса UKTwitNewsCor.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655999"/>
            <a:ext cx="6876000" cy="38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Корпус включает более 2,5 млн статей локальных онлайн-медиа Великобритании за январь 2020 — декабрь 2022, собранных по 360 локальным доменам и дополненных региональными и social-media метаданными.</a:t>
            </a:r>
          </a:p>
          <a:p>
            <a:pPr algn="l"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UKTwitNewsCor покрывает 94% Local Authority Districts и позволяет анализировать локальные медиаповестки по LAD / main_LAD.</a:t>
            </a:r>
          </a:p>
          <a:p>
            <a:pPr algn="l"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Для проекта это важно, потому что корпус сочетает тексты новостей, временные метки, ссылки, метрики вовлечённости и региональную привязку.</a:t>
            </a:r>
          </a:p>
          <a:p>
            <a:pPr algn="l"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Методологически проект измеряет не точную географию событий, а структуру локального медиаполя по административным районам.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0000" y="1835999"/>
            <a:ext cx="3851999" cy="3096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2556A7"/>
                </a:solidFill>
              </a:defRPr>
            </a:pPr>
            <a:r>
              <a:t>Почему корпус подходит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Ключевые поля корпуса: article_text, article_date, tweet_date, resolved_url, LAD, main_LAD, engagement fields.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Региональная единица анализа: LAD / main_LAD.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Публичная версия репозитория не включает сам корпус и работает только с code-first и licence-safe результатами.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Структура корпуса и покрытие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Ниже показаны основные численные характеристики очищенного корпуса.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1584000"/>
            <a:ext cx="2196000" cy="1080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100">
                <a:solidFill>
                  <a:srgbClr val="5F5F5F"/>
                </a:solidFill>
              </a:defRPr>
            </a:pPr>
            <a:r>
              <a:t>Сырые строки</a:t>
            </a:r>
          </a:p>
          <a:p>
            <a:pPr algn="ctr">
              <a:defRPr sz="2000" b="1">
                <a:solidFill>
                  <a:srgbClr val="2556A7"/>
                </a:solidFill>
              </a:defRPr>
            </a:pPr>
            <a:r>
              <a:t>2 534 705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2000" y="1584000"/>
            <a:ext cx="2196000" cy="1080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100">
                <a:solidFill>
                  <a:srgbClr val="5F5F5F"/>
                </a:solidFill>
              </a:defRPr>
            </a:pPr>
            <a:r>
              <a:t>Строки после очистки</a:t>
            </a:r>
          </a:p>
          <a:p>
            <a:pPr algn="ctr">
              <a:defRPr sz="2000" b="1">
                <a:solidFill>
                  <a:srgbClr val="2556A7"/>
                </a:solidFill>
              </a:defRPr>
            </a:pPr>
            <a:r>
              <a:t>2 521 791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2000" y="1584000"/>
            <a:ext cx="2196000" cy="1080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100">
                <a:solidFill>
                  <a:srgbClr val="5F5F5F"/>
                </a:solidFill>
              </a:defRPr>
            </a:pPr>
            <a:r>
              <a:t>Исключено как слишком короткие</a:t>
            </a:r>
          </a:p>
          <a:p>
            <a:pPr algn="ctr">
              <a:defRPr sz="2000" b="1">
                <a:solidFill>
                  <a:srgbClr val="2556A7"/>
                </a:solidFill>
              </a:defRPr>
            </a:pPr>
            <a:r>
              <a:t>12 504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000" y="1584000"/>
            <a:ext cx="2196000" cy="1080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100">
                <a:solidFill>
                  <a:srgbClr val="5F5F5F"/>
                </a:solidFill>
              </a:defRPr>
            </a:pPr>
            <a:r>
              <a:t>Исключено по дате</a:t>
            </a:r>
          </a:p>
          <a:p>
            <a:pPr algn="ctr">
              <a:defRPr sz="2000" b="1">
                <a:solidFill>
                  <a:srgbClr val="2556A7"/>
                </a:solidFill>
              </a:defRPr>
            </a:pPr>
            <a:r>
              <a:t>416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92000" y="1584000"/>
            <a:ext cx="1944000" cy="1080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100">
                <a:solidFill>
                  <a:srgbClr val="5F5F5F"/>
                </a:solidFill>
              </a:defRPr>
            </a:pPr>
            <a:r>
              <a:t>Дубликатные story groups</a:t>
            </a:r>
          </a:p>
          <a:p>
            <a:pPr algn="ctr">
              <a:defRPr sz="2000" b="1">
                <a:solidFill>
                  <a:srgbClr val="2556A7"/>
                </a:solidFill>
              </a:defRPr>
            </a:pPr>
            <a:r>
              <a:t>2 397 489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2951999"/>
            <a:ext cx="11160000" cy="1152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2556A7"/>
                </a:solidFill>
              </a:defRPr>
            </a:pPr>
            <a:r>
              <a:t>Интерпретация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Источник корпуса по статье: январь 2020 — декабрь 2022.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Текущая публичная версия результатов относится к sampled semantic pilot.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Полные локальные parquet-артефакты и embeddings не публикуются в GitHub.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320000"/>
            <a:ext cx="11160000" cy="151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После очистки для каждой строки нормализуются дата, регион, очищенный текст, неделя и story_key.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Story_key строится иерархически: duplicate_group -&gt; article_id -&gt; unique_article_id. Это позволяет считать семантику один раз на историю, а не на каждую перепубликацию.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Как очищались тексты и готовился корпус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Очистка стандартизирует текст, дату и регион ещё до semantic-этапа.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692000"/>
            <a:ext cx="5508000" cy="38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Шаг 1. Дата статьи берётся из article_date, а при её отсутствии или низком доверии используется tweet_date.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Шаг 2. Регион нормализуется по main_LAD, а при его отсутствии по LAD.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Шаг 3. Текст очищается от лишних пробелов, слишком короткие тексты удаляются.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Шаг 4. Для всех строк создаётся week и укороченное поле text_for_embedding, которое содержит первые 1200 символов cleaned text.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Шаг 5. Для каждой истории формируется story_key и вес dup_weight, чтобы перепубликации не завышали частоты.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0000" y="1872000"/>
            <a:ext cx="4968000" cy="2448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2556A7"/>
                </a:solidFill>
              </a:defRPr>
            </a:pPr>
            <a:r>
              <a:t>Зачем нужен dup_weight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dup_weight = 1 / count(story_key, region, week)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Если одна и та же история опубликована в одном регионе и в одну неделю несколько раз, её вклад делится между дубликатами.</a:t>
            </a:r>
          </a:p>
          <a:p>
            <a:pPr algn="l">
              <a:spcAft>
                <a:spcPts val="700"/>
              </a:spcAft>
              <a:defRPr sz="1400">
                <a:solidFill>
                  <a:srgbClr val="222222"/>
                </a:solidFill>
              </a:defRPr>
            </a:pPr>
            <a:r>
              <a:t>Эта нормализация работает ещё до построения регионального индекса и снижает влияние механических перепубликаций.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Как отбирались экономические статьи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Economic relevance задаётся отдельным шлюзом и не сводится к 7 темам BoE.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548000"/>
            <a:ext cx="5760000" cy="3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Сначала строится candidate set. В него попадают статьи с strong keyword hit, weak keyword hit или url_section hit.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После этого семантика считается на уровне story_key. В embedding подаётся не полный текст, а поле text_for_embedding — первые 1200 символов очищенного текста.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Для каждой истории той же embedding-моделью кодируются positive anchors и negative anchors. Positive anchors описывают широкий экономический контекст: inflation and cost of living, household finance and credit, labour and business activity, housing and mortgages.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Negative anchors описывают семантически близкий шум: sport, crime and emergency reporting, arts and reviews, advertorial and property listing, generic local community stories.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0000" y="1764000"/>
            <a:ext cx="4968000" cy="3744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2556A7"/>
                </a:solidFill>
              </a:defRPr>
            </a:pPr>
            <a:r>
              <a:t>Критерий решения is_econ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Для истории i считаются три величины: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econ_positive_max(i) = max cosine(story_i, positive_anchor_j)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econ_negative_max(i) = max cosine(story_i, negative_anchor_k)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econ_margin(i) = econ_positive_max(i) - econ_negative_max(i)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История считается экономической, если positive similarity достаточно высока, положительный смысл выигрывает у отрицательного, а negative anchor не доминирует.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Strong keyword помогает только через мягкое ослабление порога и не даёт automatic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Как присваивались темы Bank of England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Темы задаются как явные семантические профили, а не как одиночные ключевые слова.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655999"/>
            <a:ext cx="5760000" cy="367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Каждая тема BoE описывается в topic_profiles.yaml через четыре компоненты: name, description, keywords и seed_examples.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Из этих частей собирается единый текст темы. Затем этот текст кодируется в topic embedding той же моделью, что и истории.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Для каждой экономической истории считаются cosine similarity ко всем 7 topic embeddings. Далее выбираются top_topic, top1_similarity и top2_similarity.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Если разница между top1_similarity и top2_similarity слишком мала, история помечается как topic_ambiguous.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0000" y="1764000"/>
            <a:ext cx="4968000" cy="3600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2556A7"/>
                </a:solidFill>
              </a:defRPr>
            </a:pPr>
            <a:r>
              <a:t>Итоговое назначение темы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Присвоение темы идёт в два шага.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Если история не прошла economic gate, assigned_topic = unassigned.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Если история экономическая и top1_similarity превышает topic threshold, assigned_topic = top_topic.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Если история экономическая, но ни одна из 7 тем не набирает достаточную similarity, assigned_topic = other_econ.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Это решение сохраняет широкий экономический фон и не подменяет economic relevance близостью к заранее заданному набору тем.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Как считался региональный индекс риска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Индекс измеряет не только объём публикаций, но и отклонение темы от собственной локальной истории.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548000"/>
            <a:ext cx="5688000" cy="3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После story-level scoring результаты переносятся обратно на article-level строки. Для каждой статьи сохраняются is_econ, assigned_topic, top1_similarity, dup_weight и region_spread.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Далее считается effective_weight = dup_weight / sqrt(region_spread). Эта величина понижает вклад широко синдицированных историй, которые одновременно опубликованы во многих регионах.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Для каждой ячейки region x week x topic считаются y — сумма effective_weight по теме, и N — total_econ_weight, то есть сумма effective_weight по всем экономическим статьям региона на этой неделе.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Сырая доля темы равна topic_share = y / N. Затем вводится сглаженная оценка p_post = (y + alpha_t) / (N + alpha_t + beta_t), где alpha_t и beta_t задаются через глобальную долю темы и prior_strength.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0000" y="1655999"/>
            <a:ext cx="4968000" cy="3888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2556A7"/>
                </a:solidFill>
              </a:defRPr>
            </a:pPr>
            <a:r>
              <a:t>Компоненты индекса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baseline_share — среднее p_post за предыдущие 8 недель. recent_share — среднее p_post за предыдущие 4 недели.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surprise = p_post - baseline_share показывает, насколько тема отклонилась от обычного уровня региона.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momentum = p_post - recent_share показывает краткосрочное ускорение темы.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mean_similarity — взвешенная средняя semantic similarity по статьям темы.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support = sqrt(N / (N + 5)) понижает доверие к ячейкам со слабым покрытием.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Итог: risk_score = support * (0.5 * z(surprise) + 0.3 * z(momentum) + 0.2 * z(mean_similarity)).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Результаты I: сильнейшие сочетания регионов и тем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Публичная версия сохраняет только агрегированные регионально-тематические результаты без текстовых цитат из корпуса.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2000" y="1728000"/>
          <a:ext cx="6983996" cy="29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999"/>
                <a:gridCol w="1745999"/>
                <a:gridCol w="1745999"/>
                <a:gridCol w="1745999"/>
              </a:tblGrid>
              <a:tr h="42685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</a:rPr>
                        <a:t>Неделя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</a:rPr>
                        <a:t>Регион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</a:rPr>
                        <a:t>Тема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</a:rPr>
                        <a:t>Risk score</a:t>
                      </a:r>
                    </a:p>
                  </a:txBody>
                  <a:tcPr/>
                </a:tc>
              </a:tr>
              <a:tr h="4268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Manchester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Inflation and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2.31</a:t>
                      </a:r>
                    </a:p>
                  </a:txBody>
                  <a:tcPr/>
                </a:tc>
              </a:tr>
              <a:tr h="4268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Birmingham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Credit, borrowing and debt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2.24</a:t>
                      </a:r>
                    </a:p>
                  </a:txBody>
                  <a:tcPr/>
                </a:tc>
              </a:tr>
              <a:tr h="4268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City of Edinburgh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Business demand, output and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2.09</a:t>
                      </a:r>
                    </a:p>
                  </a:txBody>
                  <a:tcPr/>
                </a:tc>
              </a:tr>
              <a:tr h="4268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Bradford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Inflation and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2.05</a:t>
                      </a:r>
                    </a:p>
                  </a:txBody>
                  <a:tcPr/>
                </a:tc>
              </a:tr>
              <a:tr h="4268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Stoke-on-Trent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Housing, mortgages, rents and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1.95</a:t>
                      </a:r>
                    </a:p>
                  </a:txBody>
                  <a:tcPr/>
                </a:tc>
              </a:tr>
              <a:tr h="42685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Aberdeen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Energy, food and administered-price shocks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1.95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596000" y="1764000"/>
            <a:ext cx="4031999" cy="2808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2556A7"/>
                </a:solidFill>
              </a:defRPr>
            </a:pPr>
            <a:r>
              <a:t>Публичный режим интерпретации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Внутри GitHub-версии репозитория не публикуются representative snippets и review-таблицы с прямыми фрагментами корпуса.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Для интерпретации в публичной версии используются агрегированные пары region-topic, итоговые карты и тренды.</a:t>
            </a:r>
          </a:p>
          <a:p>
            <a:pPr algn="l">
              <a:spcAft>
                <a:spcPts val="700"/>
              </a:spcAft>
              <a:defRPr sz="1300">
                <a:solidFill>
                  <a:srgbClr val="222222"/>
                </a:solidFill>
              </a:defRPr>
            </a:pPr>
            <a:r>
              <a:t>Полные локальные диагностические таблицы остаются внешними артефактами и не входят в публичный контур репозитория.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Результаты II: карты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Карты показывают как общий уровень регионального риска, так и доминирующую тему в каждом регионе.</a:t>
            </a:r>
          </a:p>
        </p:txBody>
      </p:sp>
      <p:pic>
        <p:nvPicPr>
          <p:cNvPr id="14" name="Picture 13" descr="overall_top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30" y="1655999"/>
            <a:ext cx="3656939" cy="4176000"/>
          </a:xfrm>
          <a:prstGeom prst="rect">
            <a:avLst/>
          </a:prstGeom>
        </p:spPr>
      </p:pic>
      <p:pic>
        <p:nvPicPr>
          <p:cNvPr id="15" name="Picture 14" descr="dominant_topi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08" y="1655999"/>
            <a:ext cx="4011982" cy="417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2000" y="5903999"/>
            <a:ext cx="112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Слева: общий top-risk уровень региона.</a:t>
            </a:r>
          </a:p>
          <a:p>
            <a:pPr algn="l">
              <a:spcAft>
                <a:spcPts val="700"/>
              </a:spcAft>
              <a:defRPr sz="1200">
                <a:solidFill>
                  <a:srgbClr val="222222"/>
                </a:solidFill>
              </a:defRPr>
            </a:pPr>
            <a:r>
              <a:t>Справа: тема BoE, которая даёт максимальный риск в регионе.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2000" y="288000"/>
            <a:ext cx="1123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Результаты III: динамика, стек и ограничения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972000"/>
            <a:ext cx="11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Тренды показывают, как меняется совокупный региональный риск во времени.</a:t>
            </a:r>
          </a:p>
        </p:txBody>
      </p:sp>
      <p:pic>
        <p:nvPicPr>
          <p:cNvPr id="14" name="Picture 13" descr="overall_region_risk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51" y="1728000"/>
            <a:ext cx="5630296" cy="3600000"/>
          </a:xfrm>
          <a:prstGeom prst="rect">
            <a:avLst/>
          </a:prstGeom>
        </p:spPr>
      </p:pic>
      <p:pic>
        <p:nvPicPr>
          <p:cNvPr id="15" name="Picture 14" descr="hot_topic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910" y="1728000"/>
            <a:ext cx="3378178" cy="2160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88000" y="4031999"/>
            <a:ext cx="4248000" cy="1944000"/>
          </a:xfrm>
          <a:prstGeom prst="roundRect">
            <a:avLst/>
          </a:prstGeom>
          <a:solidFill>
            <a:srgbClr val="F7F8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2556A7"/>
                </a:solidFill>
              </a:defRPr>
            </a:pPr>
            <a:r>
              <a:t>Интерпретация</a:t>
            </a:r>
          </a:p>
          <a:p>
            <a:pPr algn="l">
              <a:spcAft>
                <a:spcPts val="700"/>
              </a:spcAft>
              <a:defRPr sz="1100">
                <a:solidFill>
                  <a:srgbClr val="222222"/>
                </a:solidFill>
              </a:defRPr>
            </a:pPr>
            <a:r>
              <a:t>Стек: Python, pandas, numpy, pyarrow, sentence-transformers, matplotlib, seaborn, python-pptx, YAML.</a:t>
            </a:r>
          </a:p>
          <a:p>
            <a:pPr algn="l">
              <a:spcAft>
                <a:spcPts val="700"/>
              </a:spcAft>
              <a:defRPr sz="1100">
                <a:solidFill>
                  <a:srgbClr val="222222"/>
                </a:solidFill>
              </a:defRPr>
            </a:pPr>
            <a:r>
              <a:t>Ограничения: текущий прогон является sampled semantic pilot; ручная gold-label калибровка пока не выполнена; результат чувствителен к пороговым настройкам и параметрам сглаживания.</a:t>
            </a:r>
          </a:p>
          <a:p>
            <a:pPr algn="l">
              <a:spcAft>
                <a:spcPts val="700"/>
              </a:spcAft>
              <a:defRPr sz="1100">
                <a:solidFill>
                  <a:srgbClr val="222222"/>
                </a:solidFill>
              </a:defRPr>
            </a:pPr>
            <a:r>
              <a:t>Следующий шаг: полный локальный прогон по корпусу, ручная validation sample и сопоставление региональных сигналов с реальными коммуникационными событиями.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334</Words>
  <Application>Microsoft Macintosh PowerPoint</Application>
  <PresentationFormat>Widescreen</PresentationFormat>
  <Paragraphs>67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HSE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Кутьков Юрий Юрьевич</cp:lastModifiedBy>
  <cp:revision>14</cp:revision>
  <cp:lastPrinted>2021-11-11T13:08:42Z</cp:lastPrinted>
  <dcterms:created xsi:type="dcterms:W3CDTF">2021-11-11T08:52:47Z</dcterms:created>
  <dcterms:modified xsi:type="dcterms:W3CDTF">2022-11-10T12:03:38Z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