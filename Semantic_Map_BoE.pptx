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7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94"/>
  </p:normalViewPr>
  <p:slideViewPr>
    <p:cSldViewPr snapToGrid="0" snapToObjects="1">
      <p:cViewPr varScale="1">
        <p:scale>
          <a:sx n="66" d="100"/>
          <a:sy n="66" d="100"/>
        </p:scale>
        <p:origin x="1131" y="5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04/02/2026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 мы оставляем только экономически релевантные статьи и присваиваем им тему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other_econ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 для каждой статьи берём её вес.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уменьшается: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статья дублируется внутри региона и недели;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одна и та же история растиражирована по многим регионам.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этого агрегируем статьи по ячейкам: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неделя × регион × тема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каждой такой ячейке считаем: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сколько веса пришлось на тему;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какую долю эта тема занимает среди всех экономических статей региона на этой неделе;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насколько эта доля выше или ниже обычного уровня для этого региона;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ускоряется ли тема по сравнению с недавними неделями;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насколько статьи действительно хорошо совпадают с темой семантически.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 объединяем эти компоненты в один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risk_score</a:t>
            </a:r>
            <a:r>
              <a:rPr lang="ru-R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4128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04/02/2026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A2A2A"/>
                </a:solidFill>
              </a:defRPr>
            </a:pPr>
            <a:r>
              <a:rPr lang="ru-RU" dirty="0"/>
              <a:t>Семантическая карта региональных медиа</a:t>
            </a:r>
            <a:r>
              <a:rPr lang="en-US" dirty="0"/>
              <a:t>-</a:t>
            </a:r>
            <a:r>
              <a:rPr lang="ru-RU" dirty="0"/>
              <a:t>повесток Великобритании для коммуникации ЦБ Англии (</a:t>
            </a:r>
            <a:r>
              <a:rPr lang="ru-RU" dirty="0" err="1"/>
              <a:t>BoE</a:t>
            </a:r>
            <a:r>
              <a:rPr lang="ru-RU" dirty="0"/>
              <a:t>)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  <a:defRPr sz="1600">
                <a:solidFill>
                  <a:srgbClr val="5F5F5F"/>
                </a:solidFill>
              </a:defRPr>
            </a:pPr>
            <a:r>
              <a:t>Итоговый проект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>
              <a:defRPr sz="1600">
                <a:solidFill>
                  <a:srgbClr val="5F5F5F"/>
                </a:solidFill>
              </a:defRPr>
            </a:pPr>
            <a:r>
              <a:rPr lang="ru-RU" dirty="0">
                <a:solidFill>
                  <a:srgbClr val="5F5F5F"/>
                </a:solidFill>
              </a:rPr>
              <a:t>Коммуникация ЦБ и анализ данных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>
              <a:buNone/>
              <a:defRPr sz="1200">
                <a:solidFill>
                  <a:srgbClr val="5F5F5F"/>
                </a:solidFill>
              </a:defRPr>
            </a:pPr>
            <a:r>
              <a:t>Москва</a:t>
            </a:r>
            <a:br/>
            <a:r>
              <a:t>2026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027967" y="4824913"/>
            <a:ext cx="7625267" cy="1087513"/>
          </a:xfrm>
        </p:spPr>
        <p:txBody>
          <a:bodyPr/>
          <a:lstStyle/>
          <a:p>
            <a:pPr>
              <a:buNone/>
              <a:defRPr sz="1500">
                <a:solidFill>
                  <a:srgbClr val="5F5F5F"/>
                </a:solidFill>
              </a:defRPr>
            </a:pP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раннего</a:t>
            </a:r>
            <a:r>
              <a:rPr dirty="0"/>
              <a:t> </a:t>
            </a:r>
            <a:r>
              <a:rPr dirty="0" err="1"/>
              <a:t>выявления</a:t>
            </a:r>
            <a:r>
              <a:rPr dirty="0"/>
              <a:t> </a:t>
            </a:r>
            <a:r>
              <a:rPr dirty="0" err="1"/>
              <a:t>региональных</a:t>
            </a:r>
            <a:r>
              <a:rPr dirty="0"/>
              <a:t> </a:t>
            </a:r>
            <a:r>
              <a:rPr dirty="0" err="1"/>
              <a:t>коммуникационных</a:t>
            </a:r>
            <a:r>
              <a:rPr dirty="0"/>
              <a:t> </a:t>
            </a:r>
            <a:r>
              <a:rPr dirty="0" err="1"/>
              <a:t>рисков</a:t>
            </a:r>
            <a:r>
              <a:rPr dirty="0"/>
              <a:t>.</a:t>
            </a:r>
            <a:endParaRPr lang="ru-RU" dirty="0"/>
          </a:p>
          <a:p>
            <a:pPr>
              <a:buNone/>
              <a:defRPr sz="1500">
                <a:solidFill>
                  <a:srgbClr val="5F5F5F"/>
                </a:solidFill>
              </a:defRPr>
            </a:pPr>
            <a:endParaRPr lang="ru-RU" dirty="0"/>
          </a:p>
          <a:p>
            <a:pPr>
              <a:buNone/>
              <a:defRPr sz="1500">
                <a:solidFill>
                  <a:srgbClr val="5F5F5F"/>
                </a:solidFill>
              </a:defRPr>
            </a:pPr>
            <a:r>
              <a:rPr lang="ru-RU" dirty="0"/>
              <a:t>Цариков Иван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 anchor="t"/>
          <a:lstStyle/>
          <a:p>
            <a:pPr>
              <a:buNone/>
              <a:defRPr sz="1400">
                <a:solidFill>
                  <a:srgbClr val="2A2A2A"/>
                </a:solidFill>
              </a:defRPr>
            </a:pPr>
            <a:r>
              <a:t>Коммуникация центрального банка зависит не только от общенациональной, но и от региональной медиаповестки. Локальные новости позволяют выявлять темы, которые уже усиливаются в отдельных регионах, но еще не стали доминирующими на национальном уровне.</a:t>
            </a:r>
          </a:p>
          <a:p>
            <a:pPr>
              <a:buNone/>
              <a:defRPr sz="1400">
                <a:solidFill>
                  <a:srgbClr val="2A2A2A"/>
                </a:solidFill>
              </a:defRPr>
            </a:pPr>
            <a:r>
              <a:t>Цель проекта состоит в том, чтобы определить, какие темы Bank of England усиливаются в конкретных регионах и когда этот сдвиг становится заметным в локальном информационном поле.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 anchor="t"/>
          <a:lstStyle/>
          <a:p>
            <a:pPr>
              <a:buNone/>
              <a:defRPr sz="1000">
                <a:solidFill>
                  <a:srgbClr val="5F5F5F"/>
                </a:solidFill>
              </a:defRPr>
            </a:pPr>
            <a:r>
              <a:t>Проект преобразует корпус локальных новостей в региональный индекс коммуникационного риска и в набор карт и графиков, пригодных для интерпретации.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259892" y="1537855"/>
            <a:ext cx="5383968" cy="3293278"/>
          </a:xfrm>
        </p:spPr>
        <p:txBody>
          <a:bodyPr wrap="square" anchor="t"/>
          <a:lstStyle/>
          <a:p>
            <a:pPr>
              <a:buNone/>
              <a:defRPr sz="1900" b="1">
                <a:solidFill>
                  <a:srgbClr val="A6262E"/>
                </a:solidFill>
              </a:defRPr>
            </a:pP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анализа</a:t>
            </a:r>
            <a:endParaRPr dirty="0"/>
          </a:p>
          <a:p>
            <a:pPr>
              <a:buNone/>
              <a:defRPr sz="1700">
                <a:solidFill>
                  <a:srgbClr val="2A2A2A"/>
                </a:solidFill>
              </a:defRPr>
            </a:pP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пять</a:t>
            </a:r>
            <a:r>
              <a:rPr dirty="0"/>
              <a:t> </a:t>
            </a:r>
            <a:r>
              <a:rPr dirty="0" err="1"/>
              <a:t>этапов</a:t>
            </a:r>
            <a:r>
              <a:rPr dirty="0"/>
              <a:t>: </a:t>
            </a:r>
            <a:r>
              <a:rPr dirty="0" err="1"/>
              <a:t>очистку</a:t>
            </a:r>
            <a:r>
              <a:rPr dirty="0"/>
              <a:t> </a:t>
            </a:r>
            <a:r>
              <a:rPr dirty="0" err="1"/>
              <a:t>корпуса</a:t>
            </a:r>
            <a:r>
              <a:rPr dirty="0"/>
              <a:t>, </a:t>
            </a:r>
            <a:r>
              <a:rPr dirty="0" err="1"/>
              <a:t>отбор</a:t>
            </a:r>
            <a:r>
              <a:rPr dirty="0"/>
              <a:t> </a:t>
            </a:r>
            <a:r>
              <a:rPr dirty="0" err="1"/>
              <a:t>экономически</a:t>
            </a:r>
            <a:r>
              <a:rPr dirty="0"/>
              <a:t> </a:t>
            </a:r>
            <a:r>
              <a:rPr dirty="0" err="1"/>
              <a:t>релевантных</a:t>
            </a:r>
            <a:r>
              <a:rPr dirty="0"/>
              <a:t> </a:t>
            </a:r>
            <a:r>
              <a:rPr dirty="0" err="1"/>
              <a:t>материалов</a:t>
            </a:r>
            <a:r>
              <a:rPr dirty="0"/>
              <a:t>, </a:t>
            </a:r>
            <a:r>
              <a:rPr dirty="0" err="1"/>
              <a:t>сопоставление</a:t>
            </a:r>
            <a:r>
              <a:rPr dirty="0"/>
              <a:t> с </a:t>
            </a:r>
            <a:r>
              <a:rPr dirty="0" err="1"/>
              <a:t>темами</a:t>
            </a:r>
            <a:r>
              <a:rPr dirty="0"/>
              <a:t> Bank of England, </a:t>
            </a:r>
            <a:r>
              <a:rPr dirty="0" err="1"/>
              <a:t>построение</a:t>
            </a:r>
            <a:r>
              <a:rPr dirty="0"/>
              <a:t> </a:t>
            </a:r>
            <a:r>
              <a:rPr dirty="0" err="1"/>
              <a:t>регионального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 и </a:t>
            </a:r>
            <a:r>
              <a:rPr dirty="0" err="1"/>
              <a:t>визуализацию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Постановка задачи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400" b="1">
                <a:solidFill>
                  <a:srgbClr val="2A2A2A"/>
                </a:solidFill>
              </a:defRPr>
            </a:pPr>
            <a:r>
              <a:t>Постановка задачи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761E24D-C4BC-3453-6524-E259AE65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263" y="3336567"/>
            <a:ext cx="5966290" cy="21125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4723857" cy="3030547"/>
          </a:xfrm>
        </p:spPr>
        <p:txBody>
          <a:bodyPr wrap="square" anchor="t">
            <a:normAutofit lnSpcReduction="10000"/>
          </a:bodyPr>
          <a:lstStyle/>
          <a:p>
            <a:pPr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- articles.csv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открытого</a:t>
            </a:r>
            <a:r>
              <a:rPr dirty="0"/>
              <a:t> </a:t>
            </a:r>
            <a:r>
              <a:rPr dirty="0" err="1"/>
              <a:t>корпуса</a:t>
            </a:r>
            <a:r>
              <a:rPr dirty="0"/>
              <a:t> </a:t>
            </a:r>
            <a:r>
              <a:rPr dirty="0" err="1"/>
              <a:t>UKTwitNewsCor</a:t>
            </a:r>
            <a:r>
              <a:rPr dirty="0"/>
              <a:t>. 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2A2A2A"/>
                </a:solidFill>
              </a:defRPr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2,5 </a:t>
            </a:r>
            <a:r>
              <a:rPr dirty="0" err="1"/>
              <a:t>млн</a:t>
            </a:r>
            <a:r>
              <a:rPr dirty="0"/>
              <a:t> </a:t>
            </a:r>
            <a:r>
              <a:rPr dirty="0" err="1"/>
              <a:t>статей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онлайн-медиа</a:t>
            </a:r>
            <a:r>
              <a:rPr dirty="0"/>
              <a:t> </a:t>
            </a:r>
            <a:r>
              <a:rPr dirty="0" err="1"/>
              <a:t>Великобритании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январь</a:t>
            </a:r>
            <a:r>
              <a:rPr dirty="0"/>
              <a:t> 2020 </a:t>
            </a:r>
            <a:r>
              <a:rPr dirty="0" err="1"/>
              <a:t>года</a:t>
            </a:r>
            <a:r>
              <a:rPr dirty="0"/>
              <a:t> - </a:t>
            </a:r>
            <a:r>
              <a:rPr dirty="0" err="1"/>
              <a:t>декабрь</a:t>
            </a:r>
            <a:r>
              <a:rPr dirty="0"/>
              <a:t> 2022 </a:t>
            </a:r>
            <a:r>
              <a:rPr dirty="0" err="1"/>
              <a:t>года</a:t>
            </a:r>
            <a:r>
              <a:rPr dirty="0"/>
              <a:t>, </a:t>
            </a:r>
            <a:r>
              <a:rPr dirty="0" err="1"/>
              <a:t>собранных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360 </a:t>
            </a:r>
            <a:r>
              <a:rPr dirty="0" err="1"/>
              <a:t>локальным</a:t>
            </a:r>
            <a:r>
              <a:rPr dirty="0"/>
              <a:t> </a:t>
            </a:r>
            <a:r>
              <a:rPr dirty="0" err="1"/>
              <a:t>доменам</a:t>
            </a:r>
            <a:r>
              <a:rPr dirty="0"/>
              <a:t> и </a:t>
            </a:r>
            <a:r>
              <a:rPr dirty="0" err="1"/>
              <a:t>дополненных</a:t>
            </a:r>
            <a:r>
              <a:rPr dirty="0"/>
              <a:t> </a:t>
            </a:r>
            <a:r>
              <a:rPr dirty="0" err="1"/>
              <a:t>региональными</a:t>
            </a:r>
            <a:r>
              <a:rPr dirty="0"/>
              <a:t> и social-media </a:t>
            </a:r>
            <a:r>
              <a:rPr dirty="0" err="1"/>
              <a:t>метаданными</a:t>
            </a:r>
            <a:r>
              <a:rPr dirty="0"/>
              <a:t>.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2A2A2A"/>
                </a:solidFill>
              </a:defRPr>
            </a:pPr>
            <a:r>
              <a:rPr dirty="0" err="1"/>
              <a:t>Корпус</a:t>
            </a:r>
            <a:r>
              <a:rPr dirty="0"/>
              <a:t> </a:t>
            </a:r>
            <a:r>
              <a:rPr dirty="0" err="1"/>
              <a:t>охватывает</a:t>
            </a:r>
            <a:r>
              <a:rPr dirty="0"/>
              <a:t> 94% Local Authority Districts</a:t>
            </a:r>
            <a:r>
              <a:rPr lang="ru-RU" dirty="0"/>
              <a:t> (</a:t>
            </a:r>
            <a:r>
              <a:rPr lang="ru-RU" dirty="0" err="1"/>
              <a:t>регоионов</a:t>
            </a:r>
            <a:r>
              <a:rPr lang="ru-RU" dirty="0"/>
              <a:t>)</a:t>
            </a:r>
            <a:r>
              <a:rPr dirty="0"/>
              <a:t> и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анализировать</a:t>
            </a:r>
            <a:r>
              <a:rPr dirty="0"/>
              <a:t> </a:t>
            </a:r>
            <a:r>
              <a:rPr dirty="0" err="1"/>
              <a:t>локальные</a:t>
            </a:r>
            <a:r>
              <a:rPr dirty="0"/>
              <a:t> </a:t>
            </a:r>
            <a:r>
              <a:rPr dirty="0" err="1"/>
              <a:t>медиаповестки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LAD и </a:t>
            </a:r>
            <a:r>
              <a:rPr dirty="0" err="1"/>
              <a:t>main_LAD</a:t>
            </a:r>
            <a:r>
              <a:rPr dirty="0"/>
              <a:t>. </a:t>
            </a:r>
            <a:endParaRPr lang="ru-RU" dirty="0"/>
          </a:p>
          <a:p>
            <a:pPr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датасет</a:t>
            </a:r>
            <a:r>
              <a:rPr dirty="0"/>
              <a:t> </a:t>
            </a:r>
            <a:r>
              <a:rPr dirty="0" err="1"/>
              <a:t>сочетает</a:t>
            </a:r>
            <a:r>
              <a:rPr dirty="0"/>
              <a:t> </a:t>
            </a:r>
            <a:r>
              <a:rPr dirty="0" err="1"/>
              <a:t>тексты</a:t>
            </a:r>
            <a:r>
              <a:rPr dirty="0"/>
              <a:t> </a:t>
            </a:r>
            <a:r>
              <a:rPr dirty="0" err="1"/>
              <a:t>новостей</a:t>
            </a:r>
            <a:r>
              <a:rPr dirty="0"/>
              <a:t>, </a:t>
            </a:r>
            <a:r>
              <a:rPr dirty="0" err="1"/>
              <a:t>временные</a:t>
            </a:r>
            <a:r>
              <a:rPr dirty="0"/>
              <a:t> </a:t>
            </a:r>
            <a:r>
              <a:rPr dirty="0" err="1"/>
              <a:t>метки</a:t>
            </a:r>
            <a:r>
              <a:rPr dirty="0"/>
              <a:t>, </a:t>
            </a:r>
            <a:r>
              <a:rPr dirty="0" err="1"/>
              <a:t>ссылки</a:t>
            </a:r>
            <a:r>
              <a:rPr dirty="0"/>
              <a:t>, </a:t>
            </a:r>
            <a:r>
              <a:rPr dirty="0" err="1"/>
              <a:t>метрики</a:t>
            </a:r>
            <a:r>
              <a:rPr dirty="0"/>
              <a:t> </a:t>
            </a:r>
            <a:r>
              <a:rPr dirty="0" err="1"/>
              <a:t>вовлеченности</a:t>
            </a:r>
            <a:r>
              <a:rPr dirty="0"/>
              <a:t> и </a:t>
            </a:r>
            <a:r>
              <a:rPr dirty="0" err="1"/>
              <a:t>региональную</a:t>
            </a:r>
            <a:r>
              <a:rPr dirty="0"/>
              <a:t> </a:t>
            </a:r>
            <a:r>
              <a:rPr dirty="0" err="1"/>
              <a:t>привязку</a:t>
            </a:r>
            <a:r>
              <a:rPr dirty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585898" y="5661231"/>
            <a:ext cx="3934345" cy="553998"/>
          </a:xfrm>
        </p:spPr>
        <p:txBody>
          <a:bodyPr wrap="square" anchor="t"/>
          <a:lstStyle/>
          <a:p>
            <a:pPr>
              <a:buNone/>
              <a:defRPr sz="1000">
                <a:solidFill>
                  <a:srgbClr val="5F5F5F"/>
                </a:solidFill>
              </a:defRPr>
            </a:pPr>
            <a:r>
              <a:rPr dirty="0" err="1"/>
              <a:t>Методологически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измеряет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точную</a:t>
            </a:r>
            <a:r>
              <a:rPr dirty="0"/>
              <a:t> </a:t>
            </a:r>
            <a:r>
              <a:rPr dirty="0" err="1"/>
              <a:t>географию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, а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медиаполя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административным</a:t>
            </a:r>
            <a:r>
              <a:rPr dirty="0"/>
              <a:t> </a:t>
            </a:r>
            <a:r>
              <a:rPr dirty="0" err="1"/>
              <a:t>районам</a:t>
            </a:r>
            <a:r>
              <a:rPr dirty="0"/>
              <a:t>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 wrap="square" anchor="t"/>
          <a:lstStyle/>
          <a:p>
            <a:pPr>
              <a:buNone/>
              <a:defRPr sz="1900" b="1">
                <a:solidFill>
                  <a:srgbClr val="A6262E"/>
                </a:solidFill>
              </a:defRPr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корпус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задаче</a:t>
            </a:r>
            <a:endParaRPr dirty="0"/>
          </a:p>
          <a:p>
            <a:pPr>
              <a:defRPr sz="1600">
                <a:solidFill>
                  <a:srgbClr val="2A2A2A"/>
                </a:solidFill>
              </a:defRPr>
            </a:pPr>
            <a:r>
              <a:rPr dirty="0" err="1"/>
              <a:t>Корпус</a:t>
            </a:r>
            <a:r>
              <a:rPr dirty="0"/>
              <a:t>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локальные</a:t>
            </a:r>
            <a:r>
              <a:rPr dirty="0"/>
              <a:t> и </a:t>
            </a:r>
            <a:r>
              <a:rPr dirty="0" err="1"/>
              <a:t>региональные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,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временные</a:t>
            </a:r>
            <a:r>
              <a:rPr dirty="0"/>
              <a:t> </a:t>
            </a:r>
            <a:r>
              <a:rPr dirty="0" err="1"/>
              <a:t>метки</a:t>
            </a:r>
            <a:r>
              <a:rPr dirty="0"/>
              <a:t> и </a:t>
            </a:r>
            <a:r>
              <a:rPr dirty="0" err="1"/>
              <a:t>региональные</a:t>
            </a:r>
            <a:r>
              <a:rPr dirty="0"/>
              <a:t> </a:t>
            </a:r>
            <a:r>
              <a:rPr dirty="0" err="1"/>
              <a:t>идентификаторы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строить</a:t>
            </a:r>
            <a:r>
              <a:rPr dirty="0"/>
              <a:t> </a:t>
            </a:r>
            <a:r>
              <a:rPr dirty="0" err="1"/>
              <a:t>панель</a:t>
            </a:r>
            <a:r>
              <a:rPr dirty="0"/>
              <a:t> </a:t>
            </a:r>
            <a:br>
              <a:rPr lang="ru-RU" dirty="0"/>
            </a:br>
            <a:r>
              <a:rPr dirty="0" err="1"/>
              <a:t>неделя</a:t>
            </a:r>
            <a:r>
              <a:rPr dirty="0"/>
              <a:t> </a:t>
            </a:r>
            <a:r>
              <a:rPr lang="en-US" sz="1400" dirty="0"/>
              <a:t>x</a:t>
            </a:r>
            <a:r>
              <a:rPr lang="ru-RU" sz="1400" dirty="0"/>
              <a:t> </a:t>
            </a:r>
            <a:r>
              <a:rPr dirty="0" err="1"/>
              <a:t>регион</a:t>
            </a:r>
            <a:r>
              <a:rPr dirty="0"/>
              <a:t> и </a:t>
            </a:r>
            <a:r>
              <a:rPr dirty="0" err="1"/>
              <a:t>анализировать</a:t>
            </a:r>
            <a:r>
              <a:rPr dirty="0"/>
              <a:t> </a:t>
            </a:r>
            <a:r>
              <a:rPr dirty="0" err="1"/>
              <a:t>динамику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ручного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 </a:t>
            </a:r>
            <a:r>
              <a:rPr dirty="0" err="1"/>
              <a:t>пространственной</a:t>
            </a:r>
            <a:r>
              <a:rPr dirty="0"/>
              <a:t> </a:t>
            </a:r>
            <a:r>
              <a:rPr dirty="0" err="1"/>
              <a:t>структуры</a:t>
            </a:r>
            <a:r>
              <a:rPr dirty="0"/>
              <a:t>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Данные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400" b="1">
                <a:solidFill>
                  <a:srgbClr val="2A2A2A"/>
                </a:solidFill>
              </a:defRPr>
            </a:pPr>
            <a:r>
              <a:t>Датасет: источник и пригодность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Данные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400" b="1">
                <a:solidFill>
                  <a:srgbClr val="2A2A2A"/>
                </a:solidFill>
              </a:defRPr>
            </a:pPr>
            <a:r>
              <a:t>Структура и охват корпуса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 wrap="square" anchor="t"/>
          <a:lstStyle/>
          <a:p>
            <a:pPr>
              <a:buNone/>
              <a:defRPr sz="1100">
                <a:solidFill>
                  <a:srgbClr val="5F5F5F"/>
                </a:solidFill>
              </a:defRPr>
            </a:pPr>
            <a:r>
              <a:t>Сырые строки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 wrap="square" anchor="t"/>
          <a:lstStyle/>
          <a:p>
            <a:pPr>
              <a:buNone/>
              <a:defRPr sz="1100">
                <a:solidFill>
                  <a:srgbClr val="5F5F5F"/>
                </a:solidFill>
              </a:defRPr>
            </a:pPr>
            <a:r>
              <a:t>После очистки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 wrap="square" anchor="t"/>
          <a:lstStyle/>
          <a:p>
            <a:pPr>
              <a:buNone/>
              <a:defRPr sz="1100">
                <a:solidFill>
                  <a:srgbClr val="5F5F5F"/>
                </a:solidFill>
              </a:defRPr>
            </a:pPr>
            <a:r>
              <a:t>Период источника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/>
        <p:txBody>
          <a:bodyPr wrap="square" anchor="t"/>
          <a:lstStyle/>
          <a:p>
            <a:pPr>
              <a:buNone/>
              <a:defRPr sz="2800">
                <a:solidFill>
                  <a:srgbClr val="2556A7"/>
                </a:solidFill>
              </a:defRPr>
            </a:pPr>
            <a:r>
              <a:t>2.53 млн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9"/>
          </p:nvPr>
        </p:nvSpPr>
        <p:spPr/>
        <p:txBody>
          <a:bodyPr wrap="square" anchor="t"/>
          <a:lstStyle/>
          <a:p>
            <a:pPr>
              <a:buNone/>
              <a:defRPr sz="2800">
                <a:solidFill>
                  <a:srgbClr val="2556A7"/>
                </a:solidFill>
              </a:defRPr>
            </a:pPr>
            <a:r>
              <a:t>2.52 млн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0"/>
          </p:nvPr>
        </p:nvSpPr>
        <p:spPr/>
        <p:txBody>
          <a:bodyPr wrap="square" anchor="t"/>
          <a:lstStyle/>
          <a:p>
            <a:pPr>
              <a:buNone/>
              <a:defRPr sz="2800">
                <a:solidFill>
                  <a:srgbClr val="2556A7"/>
                </a:solidFill>
              </a:defRPr>
            </a:pPr>
            <a:r>
              <a:t>2020-2022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5040000"/>
            <a:ext cx="37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A2A2A"/>
                </a:solidFill>
              </a:defRPr>
            </a:pPr>
            <a:r>
              <a:t>Ключевые поля: article_text, article_date, tweet_date, resolved_url, LAD, main_LAD, а также показатели пользовательского отклика.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2000" y="5040000"/>
            <a:ext cx="309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A2A2A"/>
                </a:solidFill>
              </a:defRPr>
            </a:pPr>
            <a:r>
              <a:t>Из корпуса удалено 12 504 слишком коротких текста и 416 наблюдений с аномальными датами.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00" y="5040000"/>
            <a:ext cx="29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6262E"/>
                </a:solidFill>
              </a:defRPr>
            </a:pPr>
            <a:r>
              <a:t>Текущий семантический прогон является пилотным анализом на выборке и ограничен 120 000 story_key.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 anchor="t"/>
          <a:lstStyle/>
          <a:p>
            <a:pPr>
              <a:buNone/>
              <a:defRPr sz="1400">
                <a:solidFill>
                  <a:srgbClr val="2A2A2A"/>
                </a:solidFill>
              </a:defRPr>
            </a:pPr>
            <a:r>
              <a:t>Для каждой статьи сначала определялась дата публикации. В качестве основного значения использовалась article_date, а при ее отсутствии применялась tweet_date. Далее нормализовался регион: приоритет отдавался main_LAD, иначе использовался LAD.</a:t>
            </a:r>
          </a:p>
          <a:p>
            <a:pPr>
              <a:buNone/>
              <a:defRPr sz="1400">
                <a:solidFill>
                  <a:srgbClr val="2A2A2A"/>
                </a:solidFill>
              </a:defRPr>
            </a:pPr>
            <a:r>
              <a:t>После этого из текста удалялись технические пробелы и заведомо непригодные короткие записи. На выходе каждая публикация получала корректные поля date, week, region и story_key.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 anchor="t"/>
          <a:lstStyle/>
          <a:p>
            <a:pPr>
              <a:buNone/>
              <a:defRPr sz="1000">
                <a:solidFill>
                  <a:srgbClr val="5F5F5F"/>
                </a:solidFill>
              </a:defRPr>
            </a:pPr>
            <a:r>
              <a:t>Вес dup_weight нужен для того, чтобы синдицированные материалы не создавали искусственный рост частоты в региональном индексе.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 wrap="square" anchor="t"/>
          <a:lstStyle/>
          <a:p>
            <a:pPr>
              <a:buNone/>
              <a:defRPr sz="1900" b="1">
                <a:solidFill>
                  <a:srgbClr val="A6262E"/>
                </a:solidFill>
              </a:defRPr>
            </a:pPr>
            <a:r>
              <a:t>Результат этапа очистки</a:t>
            </a:r>
          </a:p>
          <a:p>
            <a:pPr>
              <a:buNone/>
              <a:defRPr sz="1600">
                <a:solidFill>
                  <a:srgbClr val="2A2A2A"/>
                </a:solidFill>
              </a:defRPr>
            </a:pPr>
            <a:r>
              <a:t>После очистки корпус сохраняет текст, валидные временные признаки, стабильную региональную привязку и структуру на уровне story_key, пригодную для последующей семантической обработки.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Подготовка корпуса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400" b="1">
                <a:solidFill>
                  <a:srgbClr val="2A2A2A"/>
                </a:solidFill>
              </a:defRPr>
            </a:pPr>
            <a:r>
              <a:t>Очистка и нормализация текстов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 anchor="t">
            <a:normAutofit fontScale="92500" lnSpcReduction="10000"/>
          </a:bodyPr>
          <a:lstStyle/>
          <a:p>
            <a:pPr>
              <a:buNone/>
              <a:defRPr sz="1300">
                <a:solidFill>
                  <a:srgbClr val="2A2A2A"/>
                </a:solidFill>
              </a:defRPr>
            </a:pPr>
            <a:r>
              <a:t>Сначала для каждой строки строится candidate set. Статья попадает в него, если выполняется хотя бы одно из условий: strong_keyword_hit, weak_keyword_hit или url_section_hit. Это быстрый предварительный фильтр с высоким охватом.</a:t>
            </a:r>
          </a:p>
          <a:p>
            <a:pPr>
              <a:buNone/>
              <a:defRPr sz="1300">
                <a:solidFill>
                  <a:srgbClr val="2A2A2A"/>
                </a:solidFill>
              </a:defRPr>
            </a:pPr>
            <a:r>
              <a:t>Затем статьи переводятся на уровень истории. story_key формируется иерархически: duplicate_group, иначе article_id, иначе unique_article_id. Это позволяет считать семантику один раз для истории, а не отдельно для каждого дубликата.</a:t>
            </a:r>
          </a:p>
          <a:p>
            <a:pPr>
              <a:buNone/>
              <a:defRPr sz="1300">
                <a:solidFill>
                  <a:srgbClr val="2A2A2A"/>
                </a:solidFill>
              </a:defRPr>
            </a:pPr>
            <a:r>
              <a:t>Для каждой истории в модель подается text_for_embedding, то есть первые 1200 символов очищенного текста. Далее история сравнивается с положительными и отрицательными экономическими якорями.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 anchor="t"/>
          <a:lstStyle/>
          <a:p>
            <a:pPr>
              <a:buNone/>
              <a:defRPr sz="1000">
                <a:solidFill>
                  <a:srgbClr val="5F5F5F"/>
                </a:solidFill>
              </a:defRPr>
            </a:pPr>
            <a:r>
              <a:t>Экономическая релевантность определяется отдельно и не сводится к близости к семи темам Bank of England.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259892" y="2379662"/>
            <a:ext cx="5383968" cy="3929617"/>
          </a:xfrm>
        </p:spPr>
        <p:txBody>
          <a:bodyPr wrap="square" anchor="t"/>
          <a:lstStyle/>
          <a:p>
            <a:pPr>
              <a:spcBef>
                <a:spcPts val="600"/>
              </a:spcBef>
              <a:buNone/>
              <a:defRPr sz="1900" b="1">
                <a:solidFill>
                  <a:srgbClr val="A6262E"/>
                </a:solidFill>
              </a:defRPr>
            </a:pPr>
            <a:r>
              <a:rPr dirty="0" err="1"/>
              <a:t>Логика</a:t>
            </a:r>
            <a:r>
              <a:rPr dirty="0"/>
              <a:t> </a:t>
            </a:r>
            <a:r>
              <a:rPr dirty="0" err="1"/>
              <a:t>семантического</a:t>
            </a:r>
            <a:r>
              <a:rPr dirty="0"/>
              <a:t> </a:t>
            </a:r>
            <a:r>
              <a:rPr dirty="0" err="1"/>
              <a:t>экономического</a:t>
            </a:r>
            <a:r>
              <a:rPr dirty="0"/>
              <a:t> </a:t>
            </a:r>
            <a:r>
              <a:rPr dirty="0" err="1"/>
              <a:t>фильтра</a:t>
            </a:r>
            <a:endParaRPr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Положительные</a:t>
            </a:r>
            <a:r>
              <a:rPr dirty="0"/>
              <a:t> </a:t>
            </a:r>
            <a:r>
              <a:rPr dirty="0" err="1"/>
              <a:t>якоря</a:t>
            </a:r>
            <a:r>
              <a:rPr dirty="0"/>
              <a:t>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инфляцию</a:t>
            </a:r>
            <a:r>
              <a:rPr dirty="0"/>
              <a:t> и 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жизни</a:t>
            </a:r>
            <a:r>
              <a:rPr dirty="0"/>
              <a:t>, </a:t>
            </a:r>
            <a:r>
              <a:rPr dirty="0" err="1"/>
              <a:t>финансы</a:t>
            </a:r>
            <a:r>
              <a:rPr dirty="0"/>
              <a:t> </a:t>
            </a:r>
            <a:r>
              <a:rPr dirty="0" err="1"/>
              <a:t>домохозяйств</a:t>
            </a:r>
            <a:r>
              <a:rPr dirty="0"/>
              <a:t>, </a:t>
            </a:r>
            <a:r>
              <a:rPr dirty="0" err="1"/>
              <a:t>рынок</a:t>
            </a:r>
            <a:r>
              <a:rPr dirty="0"/>
              <a:t> </a:t>
            </a:r>
            <a:r>
              <a:rPr dirty="0" err="1"/>
              <a:t>труда</a:t>
            </a:r>
            <a:r>
              <a:rPr dirty="0"/>
              <a:t> и </a:t>
            </a:r>
            <a:r>
              <a:rPr dirty="0" err="1"/>
              <a:t>жилищную</a:t>
            </a:r>
            <a:r>
              <a:rPr dirty="0"/>
              <a:t> </a:t>
            </a:r>
            <a:r>
              <a:rPr dirty="0" err="1"/>
              <a:t>сферу</a:t>
            </a:r>
            <a:r>
              <a:rPr dirty="0"/>
              <a:t>. </a:t>
            </a:r>
            <a:r>
              <a:rPr dirty="0" err="1"/>
              <a:t>Отрицательные</a:t>
            </a:r>
            <a:r>
              <a:rPr dirty="0"/>
              <a:t> </a:t>
            </a:r>
            <a:r>
              <a:rPr dirty="0" err="1"/>
              <a:t>якоря</a:t>
            </a:r>
            <a:r>
              <a:rPr dirty="0"/>
              <a:t>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спорт</a:t>
            </a:r>
            <a:r>
              <a:rPr dirty="0"/>
              <a:t>, </a:t>
            </a:r>
            <a:r>
              <a:rPr dirty="0" err="1"/>
              <a:t>криминальные</a:t>
            </a:r>
            <a:r>
              <a:rPr dirty="0"/>
              <a:t> </a:t>
            </a:r>
            <a:r>
              <a:rPr dirty="0" err="1"/>
              <a:t>сюжеты</a:t>
            </a:r>
            <a:r>
              <a:rPr dirty="0"/>
              <a:t>, </a:t>
            </a:r>
            <a:r>
              <a:rPr dirty="0" err="1"/>
              <a:t>культурные</a:t>
            </a:r>
            <a:r>
              <a:rPr dirty="0"/>
              <a:t> </a:t>
            </a:r>
            <a:r>
              <a:rPr dirty="0" err="1"/>
              <a:t>обзоры</a:t>
            </a:r>
            <a:r>
              <a:rPr dirty="0"/>
              <a:t>, </a:t>
            </a:r>
            <a:r>
              <a:rPr dirty="0" err="1"/>
              <a:t>рекламные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и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шум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истории</a:t>
            </a:r>
            <a:r>
              <a:rPr dirty="0"/>
              <a:t> </a:t>
            </a:r>
            <a:r>
              <a:rPr b="1" i="1" dirty="0"/>
              <a:t>s</a:t>
            </a:r>
            <a:r>
              <a:rPr dirty="0"/>
              <a:t> </a:t>
            </a:r>
            <a:r>
              <a:rPr dirty="0" err="1"/>
              <a:t>считаются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/>
              <a:t> </a:t>
            </a:r>
            <a:r>
              <a:rPr b="1" dirty="0" err="1"/>
              <a:t>econ_positive_max</a:t>
            </a:r>
            <a:r>
              <a:rPr b="1" dirty="0"/>
              <a:t> = max cos(s, </a:t>
            </a:r>
            <a:r>
              <a:rPr b="1" dirty="0" err="1"/>
              <a:t>p_j</a:t>
            </a:r>
            <a:r>
              <a:rPr b="1" dirty="0"/>
              <a:t>), </a:t>
            </a:r>
            <a:endParaRPr lang="ru-RU" b="1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b="1" dirty="0" err="1"/>
              <a:t>econ_negative_max</a:t>
            </a:r>
            <a:r>
              <a:rPr b="1" dirty="0"/>
              <a:t> = max cos(s, </a:t>
            </a:r>
            <a:r>
              <a:rPr b="1" dirty="0" err="1"/>
              <a:t>n_k</a:t>
            </a:r>
            <a:r>
              <a:rPr b="1" dirty="0"/>
              <a:t>) </a:t>
            </a:r>
            <a:r>
              <a:rPr dirty="0"/>
              <a:t>и </a:t>
            </a:r>
            <a:br>
              <a:rPr lang="ru-RU" dirty="0"/>
            </a:br>
            <a:r>
              <a:rPr b="1" dirty="0" err="1"/>
              <a:t>econ_margin</a:t>
            </a:r>
            <a:r>
              <a:rPr b="1" dirty="0"/>
              <a:t> = </a:t>
            </a:r>
            <a:r>
              <a:rPr b="1" dirty="0" err="1"/>
              <a:t>econ_positive_max</a:t>
            </a:r>
            <a:r>
              <a:rPr b="1" dirty="0"/>
              <a:t> - </a:t>
            </a:r>
            <a:r>
              <a:rPr b="1" dirty="0" err="1"/>
              <a:t>econ_negative_max</a:t>
            </a:r>
            <a:r>
              <a:rPr b="1" dirty="0"/>
              <a:t>.</a:t>
            </a:r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экономической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br>
              <a:rPr lang="ru-RU" dirty="0"/>
            </a:br>
            <a:r>
              <a:rPr dirty="0" err="1"/>
              <a:t>econ_positive_max</a:t>
            </a:r>
            <a:r>
              <a:rPr dirty="0"/>
              <a:t> &gt;= 0.50 и </a:t>
            </a:r>
            <a:r>
              <a:rPr dirty="0" err="1"/>
              <a:t>econ_margin</a:t>
            </a:r>
            <a:r>
              <a:rPr dirty="0"/>
              <a:t> &gt;= 0.06. </a:t>
            </a:r>
            <a:endParaRPr lang="ru-RU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b="1" dirty="0" err="1"/>
              <a:t>strong_keyword_hit</a:t>
            </a:r>
            <a:r>
              <a:rPr b="1" dirty="0"/>
              <a:t> </a:t>
            </a:r>
            <a:r>
              <a:rPr dirty="0" err="1"/>
              <a:t>пороги</a:t>
            </a:r>
            <a:r>
              <a:rPr dirty="0"/>
              <a:t> </a:t>
            </a:r>
            <a:r>
              <a:rPr dirty="0" err="1"/>
              <a:t>слегка</a:t>
            </a:r>
            <a:r>
              <a:rPr dirty="0"/>
              <a:t> </a:t>
            </a:r>
            <a:r>
              <a:rPr dirty="0" err="1"/>
              <a:t>ослабляются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0.47 и 0.03. </a:t>
            </a:r>
            <a:endParaRPr lang="ru-RU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отрицательный</a:t>
            </a:r>
            <a:r>
              <a:rPr dirty="0"/>
              <a:t> </a:t>
            </a:r>
            <a:r>
              <a:rPr dirty="0" err="1"/>
              <a:t>якорь</a:t>
            </a:r>
            <a:r>
              <a:rPr dirty="0"/>
              <a:t> </a:t>
            </a:r>
            <a:r>
              <a:rPr dirty="0" err="1"/>
              <a:t>доминирует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0.02, 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отклоняется</a:t>
            </a:r>
            <a:r>
              <a:rPr dirty="0"/>
              <a:t>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Метод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400" b="1">
                <a:solidFill>
                  <a:srgbClr val="2A2A2A"/>
                </a:solidFill>
              </a:defRPr>
            </a:pPr>
            <a:r>
              <a:t>Отбор экономически релевантных статей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 anchor="t">
            <a:normAutofit fontScale="92500"/>
          </a:bodyPr>
          <a:lstStyle/>
          <a:p>
            <a:pPr>
              <a:buNone/>
              <a:defRPr sz="1300">
                <a:solidFill>
                  <a:srgbClr val="2A2A2A"/>
                </a:solidFill>
              </a:defRPr>
            </a:pPr>
            <a:r>
              <a:t>После отбора экономически релевантных материалов каждая история сопоставлялась с семью заранее заданными темами Bank of England. Для каждой темы embedding строится не по одному названию, а по полному семантическому профилю.</a:t>
            </a:r>
          </a:p>
          <a:p>
            <a:pPr>
              <a:buNone/>
              <a:defRPr sz="1300">
                <a:solidFill>
                  <a:srgbClr val="2A2A2A"/>
                </a:solidFill>
              </a:defRPr>
            </a:pPr>
            <a:r>
              <a:t>Текст профиля темы включает четыре части: name, description, keywords и seed_examples. Все эти элементы объединяются в один текст, который затем кодируется той же моделью, что и история.</a:t>
            </a:r>
          </a:p>
          <a:p>
            <a:pPr>
              <a:buNone/>
              <a:defRPr sz="1300">
                <a:solidFill>
                  <a:srgbClr val="2A2A2A"/>
                </a:solidFill>
              </a:defRPr>
            </a:pPr>
            <a:r>
              <a:t>Для каждой истории считается cosine similarity ко всем семи темам. Далее определяются top_topic, top1_similarity, top2_similarity и признак topic_ambiguous.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 anchor="t"/>
          <a:lstStyle/>
          <a:p>
            <a:pPr>
              <a:buNone/>
              <a:defRPr sz="1000">
                <a:solidFill>
                  <a:srgbClr val="5F5F5F"/>
                </a:solidFill>
              </a:defRPr>
            </a:pPr>
            <a:r>
              <a:t>Если история остается экономической, но top1_similarity ниже 0.50, она относится к категории other_econ. Если история не проходит экономический фильтр, она получает assigned_topic = unassigned.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259892" y="2379663"/>
            <a:ext cx="5383968" cy="4125046"/>
          </a:xfrm>
        </p:spPr>
        <p:txBody>
          <a:bodyPr wrap="square" anchor="t"/>
          <a:lstStyle/>
          <a:p>
            <a:pPr>
              <a:spcBef>
                <a:spcPts val="600"/>
              </a:spcBef>
              <a:buNone/>
              <a:defRPr sz="1900" b="1">
                <a:solidFill>
                  <a:srgbClr val="A6262E"/>
                </a:solidFill>
              </a:defRPr>
            </a:pPr>
            <a:r>
              <a:rPr dirty="0" err="1"/>
              <a:t>Семантическое</a:t>
            </a:r>
            <a:r>
              <a:rPr dirty="0"/>
              <a:t> </a:t>
            </a:r>
            <a:r>
              <a:rPr dirty="0" err="1"/>
              <a:t>сопоставление</a:t>
            </a:r>
            <a:endParaRPr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Обозначим</a:t>
            </a:r>
            <a:r>
              <a:rPr dirty="0"/>
              <a:t> embedding </a:t>
            </a:r>
            <a:r>
              <a:rPr b="1" dirty="0" err="1"/>
              <a:t>истории</a:t>
            </a:r>
            <a:r>
              <a:rPr b="1" dirty="0"/>
              <a:t> </a:t>
            </a:r>
            <a:r>
              <a:rPr b="1" dirty="0" err="1"/>
              <a:t>как</a:t>
            </a:r>
            <a:r>
              <a:rPr b="1" dirty="0"/>
              <a:t> </a:t>
            </a:r>
            <a:r>
              <a:rPr b="1" dirty="0" err="1"/>
              <a:t>s_i</a:t>
            </a:r>
            <a:r>
              <a:rPr dirty="0"/>
              <a:t>, а embedding </a:t>
            </a:r>
            <a:r>
              <a:rPr b="1" dirty="0" err="1"/>
              <a:t>темы</a:t>
            </a:r>
            <a:r>
              <a:rPr b="1" dirty="0"/>
              <a:t> </a:t>
            </a:r>
            <a:r>
              <a:rPr b="1" dirty="0" err="1"/>
              <a:t>как</a:t>
            </a:r>
            <a:r>
              <a:rPr b="1" dirty="0"/>
              <a:t> </a:t>
            </a:r>
            <a:r>
              <a:rPr b="1" dirty="0" err="1"/>
              <a:t>t_m</a:t>
            </a:r>
            <a:r>
              <a:rPr b="1" dirty="0"/>
              <a:t>.</a:t>
            </a:r>
            <a:r>
              <a:rPr dirty="0"/>
              <a:t> </a:t>
            </a:r>
            <a:r>
              <a:rPr dirty="0" err="1"/>
              <a:t>Тогда</a:t>
            </a:r>
            <a:r>
              <a:rPr dirty="0"/>
              <a:t> </a:t>
            </a:r>
            <a:r>
              <a:rPr b="1" dirty="0"/>
              <a:t>similarity(</a:t>
            </a:r>
            <a:r>
              <a:rPr b="1" dirty="0" err="1"/>
              <a:t>i</a:t>
            </a:r>
            <a:r>
              <a:rPr b="1" dirty="0"/>
              <a:t>, m) = cos(</a:t>
            </a:r>
            <a:r>
              <a:rPr b="1" dirty="0" err="1"/>
              <a:t>s_i</a:t>
            </a:r>
            <a:r>
              <a:rPr b="1" dirty="0"/>
              <a:t>, </a:t>
            </a:r>
            <a:r>
              <a:rPr b="1" dirty="0" err="1"/>
              <a:t>t_m</a:t>
            </a:r>
            <a:r>
              <a:rPr b="1" dirty="0"/>
              <a:t>)</a:t>
            </a:r>
            <a:r>
              <a:rPr dirty="0"/>
              <a:t>. </a:t>
            </a:r>
            <a:endParaRPr lang="ru-RU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b="1" dirty="0" err="1"/>
              <a:t>top_topic</a:t>
            </a:r>
            <a:r>
              <a:rPr b="1" dirty="0"/>
              <a:t> </a:t>
            </a:r>
            <a:r>
              <a:rPr dirty="0"/>
              <a:t>- </a:t>
            </a:r>
            <a:r>
              <a:rPr dirty="0" err="1"/>
              <a:t>тема</a:t>
            </a:r>
            <a:r>
              <a:rPr dirty="0"/>
              <a:t> с </a:t>
            </a:r>
            <a:r>
              <a:rPr dirty="0" err="1"/>
              <a:t>максимальной</a:t>
            </a:r>
            <a:r>
              <a:rPr dirty="0"/>
              <a:t> </a:t>
            </a:r>
            <a:r>
              <a:rPr dirty="0" err="1"/>
              <a:t>близостью</a:t>
            </a:r>
            <a:r>
              <a:rPr dirty="0"/>
              <a:t>. </a:t>
            </a:r>
            <a:endParaRPr lang="ru-RU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b="1" dirty="0"/>
              <a:t>top1_similarity </a:t>
            </a:r>
            <a:r>
              <a:rPr dirty="0"/>
              <a:t>- </a:t>
            </a: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максимальная</a:t>
            </a:r>
            <a:r>
              <a:rPr dirty="0"/>
              <a:t> </a:t>
            </a:r>
            <a:r>
              <a:rPr dirty="0" err="1"/>
              <a:t>близость</a:t>
            </a:r>
            <a:r>
              <a:rPr dirty="0"/>
              <a:t>. </a:t>
            </a:r>
            <a:endParaRPr lang="ru-RU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b="1" dirty="0"/>
              <a:t>top2_similarity </a:t>
            </a:r>
            <a:r>
              <a:rPr dirty="0"/>
              <a:t>- </a:t>
            </a:r>
            <a:r>
              <a:rPr dirty="0" err="1"/>
              <a:t>вторая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величине</a:t>
            </a:r>
            <a:r>
              <a:rPr dirty="0"/>
              <a:t> </a:t>
            </a:r>
            <a:r>
              <a:rPr dirty="0" err="1"/>
              <a:t>близость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Признак</a:t>
            </a:r>
            <a:r>
              <a:rPr dirty="0"/>
              <a:t> </a:t>
            </a:r>
            <a:r>
              <a:rPr b="1" dirty="0" err="1"/>
              <a:t>topic_ambiguous</a:t>
            </a:r>
            <a:r>
              <a:rPr b="1"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True, </a:t>
            </a:r>
            <a:r>
              <a:rPr dirty="0" err="1"/>
              <a:t>если</a:t>
            </a:r>
            <a:r>
              <a:rPr dirty="0"/>
              <a:t> top1_similarity - top2_similarity &lt; 0.02. </a:t>
            </a:r>
            <a:endParaRPr lang="ru-RU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близка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к </a:t>
            </a:r>
            <a:r>
              <a:rPr dirty="0" err="1"/>
              <a:t>двум</a:t>
            </a:r>
            <a:r>
              <a:rPr dirty="0"/>
              <a:t> </a:t>
            </a:r>
            <a:r>
              <a:rPr dirty="0" err="1"/>
              <a:t>темам</a:t>
            </a:r>
            <a:r>
              <a:rPr dirty="0"/>
              <a:t> и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осторожной</a:t>
            </a:r>
            <a:r>
              <a:rPr dirty="0"/>
              <a:t> </a:t>
            </a:r>
            <a:r>
              <a:rPr dirty="0" err="1"/>
              <a:t>интерпретации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b="1" dirty="0" err="1"/>
              <a:t>Итоговая</a:t>
            </a:r>
            <a:r>
              <a:rPr b="1" dirty="0"/>
              <a:t> </a:t>
            </a:r>
            <a:r>
              <a:rPr b="1" dirty="0" err="1"/>
              <a:t>логика</a:t>
            </a:r>
            <a:r>
              <a:rPr b="1" dirty="0"/>
              <a:t> </a:t>
            </a:r>
            <a:r>
              <a:rPr b="1" dirty="0" err="1"/>
              <a:t>такова</a:t>
            </a:r>
            <a:r>
              <a:rPr b="1" dirty="0"/>
              <a:t>: </a:t>
            </a:r>
            <a:endParaRPr lang="ru-RU" b="1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lang="ru-RU" dirty="0"/>
              <a:t>Е</a:t>
            </a:r>
            <a:r>
              <a:rPr dirty="0" err="1"/>
              <a:t>сли</a:t>
            </a:r>
            <a:r>
              <a:rPr dirty="0"/>
              <a:t> </a:t>
            </a:r>
            <a:r>
              <a:rPr dirty="0" err="1"/>
              <a:t>is_econ</a:t>
            </a:r>
            <a:r>
              <a:rPr dirty="0"/>
              <a:t> = True и top1_similarity &gt;= 0.50, </a:t>
            </a:r>
            <a:r>
              <a:rPr dirty="0" err="1"/>
              <a:t>assigned_topic</a:t>
            </a:r>
            <a:r>
              <a:rPr dirty="0"/>
              <a:t> = </a:t>
            </a:r>
            <a:r>
              <a:rPr dirty="0" err="1"/>
              <a:t>top_topic</a:t>
            </a:r>
            <a:r>
              <a:rPr dirty="0"/>
              <a:t>. </a:t>
            </a:r>
            <a:endParaRPr lang="ru-RU" dirty="0"/>
          </a:p>
          <a:p>
            <a:pPr>
              <a:spcBef>
                <a:spcPts val="600"/>
              </a:spcBef>
              <a:buNone/>
              <a:defRPr sz="1400">
                <a:solidFill>
                  <a:srgbClr val="2A2A2A"/>
                </a:solidFill>
              </a:defRPr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is_econ</a:t>
            </a:r>
            <a:r>
              <a:rPr dirty="0"/>
              <a:t> = True и top1_similarity &lt; 0.50, </a:t>
            </a:r>
            <a:r>
              <a:rPr dirty="0" err="1"/>
              <a:t>assigned_topic</a:t>
            </a:r>
            <a:r>
              <a:rPr dirty="0"/>
              <a:t> = </a:t>
            </a:r>
            <a:r>
              <a:rPr dirty="0" err="1"/>
              <a:t>other_econ</a:t>
            </a:r>
            <a:r>
              <a:rPr dirty="0"/>
              <a:t>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Метод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400" b="1">
                <a:solidFill>
                  <a:srgbClr val="2A2A2A"/>
                </a:solidFill>
              </a:defRPr>
            </a:pPr>
            <a:r>
              <a:t>Присвоение тем Bank of England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4599166" cy="2691101"/>
          </a:xfrm>
        </p:spPr>
        <p:txBody>
          <a:bodyPr wrap="square" anchor="t">
            <a:normAutofit/>
          </a:bodyPr>
          <a:lstStyle/>
          <a:p>
            <a:pPr>
              <a:buNone/>
              <a:defRPr sz="1200">
                <a:solidFill>
                  <a:srgbClr val="2A2A2A"/>
                </a:solidFill>
              </a:defRPr>
            </a:pPr>
            <a:r>
              <a:rPr dirty="0" err="1"/>
              <a:t>Индекс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переноса</a:t>
            </a:r>
            <a:r>
              <a:rPr dirty="0"/>
              <a:t> story-level </a:t>
            </a:r>
            <a:r>
              <a:rPr dirty="0" err="1"/>
              <a:t>результатов</a:t>
            </a:r>
            <a:r>
              <a:rPr dirty="0"/>
              <a:t> </a:t>
            </a:r>
            <a:r>
              <a:rPr dirty="0" err="1"/>
              <a:t>обратно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статьи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article row </a:t>
            </a:r>
            <a:r>
              <a:rPr dirty="0" err="1"/>
              <a:t>сохраняются</a:t>
            </a:r>
            <a:r>
              <a:rPr dirty="0"/>
              <a:t> </a:t>
            </a:r>
            <a:r>
              <a:rPr dirty="0" err="1"/>
              <a:t>is_econ</a:t>
            </a:r>
            <a:r>
              <a:rPr dirty="0"/>
              <a:t>, </a:t>
            </a:r>
            <a:r>
              <a:rPr dirty="0" err="1"/>
              <a:t>assigned_topic</a:t>
            </a:r>
            <a:r>
              <a:rPr dirty="0"/>
              <a:t>, top1_similarity, </a:t>
            </a:r>
            <a:r>
              <a:rPr dirty="0" err="1"/>
              <a:t>dup_weight</a:t>
            </a:r>
            <a:r>
              <a:rPr dirty="0"/>
              <a:t> и </a:t>
            </a:r>
            <a:r>
              <a:rPr dirty="0" err="1"/>
              <a:t>region_spread</a:t>
            </a:r>
            <a:r>
              <a:rPr dirty="0"/>
              <a:t>.</a:t>
            </a:r>
          </a:p>
          <a:p>
            <a:pPr>
              <a:buNone/>
              <a:defRPr sz="1200">
                <a:solidFill>
                  <a:srgbClr val="2A2A2A"/>
                </a:solidFill>
              </a:defRPr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рассчитывается</a:t>
            </a:r>
            <a:r>
              <a:rPr dirty="0"/>
              <a:t> </a:t>
            </a:r>
            <a:r>
              <a:rPr b="1" dirty="0" err="1"/>
              <a:t>effective_weight</a:t>
            </a:r>
            <a:r>
              <a:rPr b="1" dirty="0"/>
              <a:t> </a:t>
            </a:r>
            <a:r>
              <a:rPr dirty="0"/>
              <a:t>= </a:t>
            </a:r>
            <a:r>
              <a:rPr dirty="0" err="1"/>
              <a:t>dup_weight</a:t>
            </a:r>
            <a:r>
              <a:rPr dirty="0"/>
              <a:t> / sqrt(</a:t>
            </a:r>
            <a:r>
              <a:rPr dirty="0" err="1"/>
              <a:t>region_spread</a:t>
            </a:r>
            <a:r>
              <a:rPr dirty="0"/>
              <a:t>). </a:t>
            </a:r>
            <a:r>
              <a:rPr dirty="0" err="1"/>
              <a:t>Здесь</a:t>
            </a:r>
            <a:r>
              <a:rPr dirty="0"/>
              <a:t> </a:t>
            </a:r>
            <a:r>
              <a:rPr b="1" dirty="0" err="1"/>
              <a:t>region_spread</a:t>
            </a:r>
            <a:r>
              <a:rPr b="1" dirty="0"/>
              <a:t> </a:t>
            </a:r>
            <a:r>
              <a:rPr dirty="0"/>
              <a:t>-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уникальных</a:t>
            </a:r>
            <a:r>
              <a:rPr dirty="0"/>
              <a:t> </a:t>
            </a:r>
            <a:r>
              <a:rPr dirty="0" err="1"/>
              <a:t>регионов</a:t>
            </a:r>
            <a:r>
              <a:rPr dirty="0"/>
              <a:t>, в </a:t>
            </a:r>
            <a:r>
              <a:rPr dirty="0" err="1"/>
              <a:t>которых</a:t>
            </a:r>
            <a:r>
              <a:rPr dirty="0"/>
              <a:t> </a:t>
            </a:r>
            <a:r>
              <a:rPr dirty="0" err="1"/>
              <a:t>встречается</a:t>
            </a:r>
            <a:r>
              <a:rPr dirty="0"/>
              <a:t> </a:t>
            </a:r>
            <a:r>
              <a:rPr dirty="0" err="1"/>
              <a:t>данный</a:t>
            </a:r>
            <a:r>
              <a:rPr dirty="0"/>
              <a:t> </a:t>
            </a:r>
            <a:r>
              <a:rPr dirty="0" err="1"/>
              <a:t>story_key</a:t>
            </a:r>
            <a:r>
              <a:rPr dirty="0"/>
              <a:t>.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множитель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широко</a:t>
            </a:r>
            <a:r>
              <a:rPr dirty="0"/>
              <a:t> </a:t>
            </a:r>
            <a:r>
              <a:rPr dirty="0" err="1"/>
              <a:t>синдицированных</a:t>
            </a:r>
            <a:r>
              <a:rPr dirty="0"/>
              <a:t> </a:t>
            </a:r>
            <a:r>
              <a:rPr dirty="0" err="1"/>
              <a:t>материалов</a:t>
            </a:r>
            <a:r>
              <a:rPr dirty="0"/>
              <a:t>.</a:t>
            </a:r>
          </a:p>
          <a:p>
            <a:pPr>
              <a:buNone/>
              <a:defRPr sz="1200">
                <a:solidFill>
                  <a:srgbClr val="2A2A2A"/>
                </a:solidFill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ячейки</a:t>
            </a:r>
            <a:r>
              <a:rPr dirty="0"/>
              <a:t> week x region x topic </a:t>
            </a:r>
            <a:r>
              <a:rPr dirty="0" err="1"/>
              <a:t>считаются</a:t>
            </a:r>
            <a:r>
              <a:rPr dirty="0"/>
              <a:t> </a:t>
            </a:r>
            <a:r>
              <a:rPr dirty="0" err="1"/>
              <a:t>n_articles</a:t>
            </a:r>
            <a:r>
              <a:rPr dirty="0"/>
              <a:t> = </a:t>
            </a:r>
            <a:r>
              <a:rPr dirty="0" err="1"/>
              <a:t>сумма</a:t>
            </a:r>
            <a:r>
              <a:rPr dirty="0"/>
              <a:t> </a:t>
            </a:r>
            <a:r>
              <a:rPr dirty="0" err="1"/>
              <a:t>effective_weight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теме</a:t>
            </a:r>
            <a:r>
              <a:rPr dirty="0"/>
              <a:t> и </a:t>
            </a:r>
            <a:r>
              <a:rPr b="1" dirty="0" err="1"/>
              <a:t>total_econ_weight</a:t>
            </a:r>
            <a:r>
              <a:rPr b="1" dirty="0"/>
              <a:t> </a:t>
            </a:r>
            <a:r>
              <a:rPr dirty="0"/>
              <a:t>= </a:t>
            </a:r>
            <a:r>
              <a:rPr dirty="0" err="1"/>
              <a:t>сумма</a:t>
            </a:r>
            <a:r>
              <a:rPr dirty="0"/>
              <a:t> </a:t>
            </a:r>
            <a:r>
              <a:rPr dirty="0" err="1"/>
              <a:t>effective_weight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экономическим</a:t>
            </a:r>
            <a:r>
              <a:rPr dirty="0"/>
              <a:t> </a:t>
            </a:r>
            <a:r>
              <a:rPr dirty="0" err="1"/>
              <a:t>статьям</a:t>
            </a:r>
            <a:r>
              <a:rPr dirty="0"/>
              <a:t> </a:t>
            </a:r>
            <a:r>
              <a:rPr dirty="0" err="1"/>
              <a:t>региона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неделе</a:t>
            </a:r>
            <a:r>
              <a:rPr dirty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 anchor="t"/>
          <a:lstStyle/>
          <a:p>
            <a:pPr>
              <a:buNone/>
              <a:defRPr sz="1000">
                <a:solidFill>
                  <a:srgbClr val="5F5F5F"/>
                </a:solidFill>
              </a:defRPr>
            </a:pPr>
            <a:r>
              <a:t>Shrinkage стабилизирует оценки для малых регионов. Surprise измеряет отклонение от собственной истории региона. Momentum фиксирует ускорение темы.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5704609" y="2224815"/>
            <a:ext cx="5939251" cy="4259112"/>
          </a:xfrm>
        </p:spPr>
        <p:txBody>
          <a:bodyPr wrap="square" anchor="t">
            <a:normAutofit lnSpcReduction="10000"/>
          </a:bodyPr>
          <a:lstStyle/>
          <a:p>
            <a:pPr>
              <a:buNone/>
              <a:defRPr sz="1900" b="1">
                <a:solidFill>
                  <a:srgbClr val="A6262E"/>
                </a:solidFill>
              </a:defRPr>
            </a:pPr>
            <a:r>
              <a:rPr dirty="0" err="1"/>
              <a:t>Формулы</a:t>
            </a:r>
            <a:endParaRPr dirty="0"/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dirty="0" err="1"/>
              <a:t>Обозначим</a:t>
            </a:r>
            <a:r>
              <a:rPr dirty="0"/>
              <a:t> </a:t>
            </a:r>
            <a:r>
              <a:rPr b="1" i="1" dirty="0"/>
              <a:t>y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сумму</a:t>
            </a:r>
            <a:r>
              <a:rPr dirty="0"/>
              <a:t> </a:t>
            </a:r>
            <a:r>
              <a:rPr b="1" dirty="0" err="1"/>
              <a:t>effective_weight</a:t>
            </a:r>
            <a:r>
              <a:rPr b="1"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теме</a:t>
            </a:r>
            <a:r>
              <a:rPr dirty="0"/>
              <a:t>, а </a:t>
            </a:r>
            <a:r>
              <a:rPr b="1" i="1" dirty="0"/>
              <a:t>N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b="1" dirty="0" err="1"/>
              <a:t>total_econ_weight</a:t>
            </a:r>
            <a:r>
              <a:rPr b="1" dirty="0"/>
              <a:t> </a:t>
            </a:r>
            <a:r>
              <a:rPr dirty="0" err="1"/>
              <a:t>региона</a:t>
            </a:r>
            <a:r>
              <a:rPr dirty="0"/>
              <a:t> и </a:t>
            </a:r>
            <a:r>
              <a:rPr dirty="0" err="1"/>
              <a:t>недели</a:t>
            </a:r>
            <a:r>
              <a:rPr dirty="0"/>
              <a:t>. </a:t>
            </a:r>
            <a:endParaRPr lang="ru-RU" dirty="0"/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dirty="0" err="1"/>
              <a:t>Тогда</a:t>
            </a:r>
            <a:r>
              <a:rPr dirty="0"/>
              <a:t> </a:t>
            </a:r>
            <a:r>
              <a:rPr b="1" dirty="0" err="1"/>
              <a:t>topic_share</a:t>
            </a:r>
            <a:r>
              <a:rPr b="1" dirty="0"/>
              <a:t> </a:t>
            </a:r>
            <a:r>
              <a:rPr dirty="0"/>
              <a:t>= y / N. </a:t>
            </a:r>
            <a:endParaRPr lang="ru-RU" dirty="0"/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dirty="0" err="1"/>
              <a:t>Далее</a:t>
            </a:r>
            <a:r>
              <a:rPr dirty="0"/>
              <a:t> </a:t>
            </a:r>
            <a:r>
              <a:rPr dirty="0" err="1"/>
              <a:t>вводится</a:t>
            </a:r>
            <a:r>
              <a:rPr dirty="0"/>
              <a:t> </a:t>
            </a:r>
            <a:r>
              <a:rPr dirty="0" err="1"/>
              <a:t>сглаженная</a:t>
            </a:r>
            <a:r>
              <a:rPr dirty="0"/>
              <a:t> </a:t>
            </a:r>
            <a:r>
              <a:rPr dirty="0" err="1"/>
              <a:t>оценка</a:t>
            </a:r>
            <a:r>
              <a:rPr lang="ru-RU" dirty="0"/>
              <a:t>:</a:t>
            </a:r>
            <a:r>
              <a:rPr dirty="0"/>
              <a:t> </a:t>
            </a:r>
            <a:endParaRPr lang="ru-RU" dirty="0"/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lang="ru-RU" i="1" dirty="0"/>
              <a:t>	</a:t>
            </a:r>
            <a:r>
              <a:rPr b="1" dirty="0" err="1"/>
              <a:t>p_post</a:t>
            </a:r>
            <a:r>
              <a:rPr b="1" dirty="0"/>
              <a:t> = (y + </a:t>
            </a:r>
            <a:r>
              <a:rPr b="1" dirty="0" err="1"/>
              <a:t>alpha_t</a:t>
            </a:r>
            <a:r>
              <a:rPr b="1" dirty="0"/>
              <a:t>) / (N + </a:t>
            </a:r>
            <a:r>
              <a:rPr b="1" dirty="0" err="1"/>
              <a:t>alpha_t</a:t>
            </a:r>
            <a:r>
              <a:rPr b="1" dirty="0"/>
              <a:t> + </a:t>
            </a:r>
            <a:r>
              <a:rPr b="1" dirty="0" err="1"/>
              <a:t>beta_t</a:t>
            </a:r>
            <a:r>
              <a:rPr b="1" dirty="0"/>
              <a:t>)</a:t>
            </a:r>
            <a:r>
              <a:rPr lang="ru-RU" b="1" dirty="0"/>
              <a:t>,</a:t>
            </a:r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dirty="0" err="1"/>
              <a:t>где</a:t>
            </a:r>
            <a:r>
              <a:rPr dirty="0"/>
              <a:t> </a:t>
            </a:r>
            <a:r>
              <a:rPr i="1" dirty="0" err="1"/>
              <a:t>alpha_t</a:t>
            </a:r>
            <a:r>
              <a:rPr dirty="0"/>
              <a:t> и </a:t>
            </a:r>
            <a:r>
              <a:rPr i="1" dirty="0" err="1"/>
              <a:t>beta_t</a:t>
            </a:r>
            <a:r>
              <a:rPr i="1" dirty="0"/>
              <a:t> </a:t>
            </a:r>
            <a:r>
              <a:rPr dirty="0" err="1"/>
              <a:t>задаются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глобальную</a:t>
            </a:r>
            <a:r>
              <a:rPr dirty="0"/>
              <a:t> </a:t>
            </a:r>
            <a:r>
              <a:rPr dirty="0" err="1"/>
              <a:t>долю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 и </a:t>
            </a:r>
            <a:r>
              <a:rPr dirty="0" err="1"/>
              <a:t>prior_strength</a:t>
            </a:r>
            <a:r>
              <a:rPr dirty="0"/>
              <a:t> </a:t>
            </a:r>
            <a:r>
              <a:rPr i="1" dirty="0"/>
              <a:t>= 20.</a:t>
            </a:r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b="1" dirty="0" err="1"/>
              <a:t>baseline_share</a:t>
            </a:r>
            <a:r>
              <a:rPr b="1" dirty="0"/>
              <a:t> </a:t>
            </a:r>
            <a:r>
              <a:rPr dirty="0"/>
              <a:t>- </a:t>
            </a:r>
            <a:r>
              <a:rPr dirty="0" err="1"/>
              <a:t>среднее</a:t>
            </a:r>
            <a:r>
              <a:rPr dirty="0"/>
              <a:t> </a:t>
            </a:r>
            <a:r>
              <a:rPr dirty="0" err="1"/>
              <a:t>p_post</a:t>
            </a:r>
            <a:r>
              <a:rPr i="1"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предыдущие</a:t>
            </a:r>
            <a:r>
              <a:rPr dirty="0"/>
              <a:t> 8 </a:t>
            </a:r>
            <a:r>
              <a:rPr dirty="0" err="1"/>
              <a:t>недель</a:t>
            </a:r>
            <a:r>
              <a:rPr dirty="0"/>
              <a:t>.</a:t>
            </a:r>
            <a:endParaRPr lang="ru-RU" dirty="0"/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b="1" dirty="0" err="1"/>
              <a:t>recent_share</a:t>
            </a:r>
            <a:r>
              <a:rPr b="1" dirty="0"/>
              <a:t> </a:t>
            </a:r>
            <a:r>
              <a:rPr dirty="0"/>
              <a:t>- </a:t>
            </a:r>
            <a:r>
              <a:rPr dirty="0" err="1"/>
              <a:t>среднее</a:t>
            </a:r>
            <a:r>
              <a:rPr dirty="0"/>
              <a:t> </a:t>
            </a:r>
            <a:r>
              <a:rPr dirty="0" err="1"/>
              <a:t>p_post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предыдущие</a:t>
            </a:r>
            <a:r>
              <a:rPr dirty="0"/>
              <a:t> 4 </a:t>
            </a:r>
            <a:r>
              <a:rPr dirty="0" err="1"/>
              <a:t>недели</a:t>
            </a:r>
            <a:r>
              <a:rPr dirty="0"/>
              <a:t>.</a:t>
            </a:r>
            <a:endParaRPr lang="ru-RU" dirty="0"/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b="1" dirty="0"/>
              <a:t>surprise</a:t>
            </a:r>
            <a:r>
              <a:rPr dirty="0"/>
              <a:t> = </a:t>
            </a:r>
            <a:r>
              <a:rPr dirty="0" err="1"/>
              <a:t>p_post</a:t>
            </a:r>
            <a:r>
              <a:rPr dirty="0"/>
              <a:t> - </a:t>
            </a:r>
            <a:r>
              <a:rPr dirty="0" err="1"/>
              <a:t>baseline_share</a:t>
            </a:r>
            <a:r>
              <a:rPr dirty="0"/>
              <a:t>. </a:t>
            </a:r>
            <a:endParaRPr lang="ru-RU" dirty="0"/>
          </a:p>
          <a:p>
            <a:pPr>
              <a:spcBef>
                <a:spcPts val="600"/>
              </a:spcBef>
              <a:buNone/>
              <a:defRPr sz="1300">
                <a:solidFill>
                  <a:srgbClr val="2A2A2A"/>
                </a:solidFill>
              </a:defRPr>
            </a:pPr>
            <a:r>
              <a:rPr b="1" dirty="0"/>
              <a:t>momentum</a:t>
            </a:r>
            <a:r>
              <a:rPr dirty="0"/>
              <a:t> = </a:t>
            </a:r>
            <a:r>
              <a:rPr dirty="0" err="1"/>
              <a:t>p_post</a:t>
            </a:r>
            <a:r>
              <a:rPr dirty="0"/>
              <a:t> - </a:t>
            </a:r>
            <a:r>
              <a:rPr dirty="0" err="1"/>
              <a:t>recent_share</a:t>
            </a:r>
            <a:r>
              <a:rPr dirty="0"/>
              <a:t>.</a:t>
            </a:r>
          </a:p>
          <a:p>
            <a:pPr>
              <a:buNone/>
              <a:defRPr sz="1300">
                <a:solidFill>
                  <a:srgbClr val="2A2A2A"/>
                </a:solidFill>
              </a:defRPr>
            </a:pPr>
            <a:r>
              <a:rPr b="1" dirty="0" err="1"/>
              <a:t>mean_similarity</a:t>
            </a:r>
            <a:r>
              <a:rPr b="1" dirty="0"/>
              <a:t> </a:t>
            </a:r>
            <a:r>
              <a:rPr dirty="0"/>
              <a:t>- </a:t>
            </a:r>
            <a:r>
              <a:rPr dirty="0" err="1"/>
              <a:t>средняя</a:t>
            </a:r>
            <a:r>
              <a:rPr dirty="0"/>
              <a:t> </a:t>
            </a:r>
            <a:r>
              <a:rPr i="1" dirty="0"/>
              <a:t>top1_similarity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статьям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 с </a:t>
            </a:r>
            <a:r>
              <a:rPr dirty="0" err="1"/>
              <a:t>весами</a:t>
            </a:r>
            <a:r>
              <a:rPr dirty="0"/>
              <a:t> </a:t>
            </a:r>
            <a:r>
              <a:rPr dirty="0" err="1"/>
              <a:t>effective_weight</a:t>
            </a:r>
            <a:r>
              <a:rPr dirty="0"/>
              <a:t>. </a:t>
            </a:r>
            <a:br>
              <a:rPr lang="ru-RU" dirty="0"/>
            </a:br>
            <a:endParaRPr lang="ru-RU" dirty="0"/>
          </a:p>
          <a:p>
            <a:pPr>
              <a:buNone/>
              <a:defRPr sz="1300">
                <a:solidFill>
                  <a:srgbClr val="2A2A2A"/>
                </a:solidFill>
              </a:defRPr>
            </a:pPr>
            <a:r>
              <a:rPr b="1" dirty="0"/>
              <a:t>support</a:t>
            </a:r>
            <a:r>
              <a:rPr dirty="0"/>
              <a:t> = sqrt(N / (N + 5)).</a:t>
            </a:r>
            <a:br>
              <a:rPr lang="ru-RU" dirty="0"/>
            </a:br>
            <a:br>
              <a:rPr lang="ru-RU" dirty="0"/>
            </a:br>
            <a:r>
              <a:rPr b="1" dirty="0" err="1"/>
              <a:t>Итоговый</a:t>
            </a:r>
            <a:r>
              <a:rPr b="1" dirty="0"/>
              <a:t> </a:t>
            </a:r>
            <a:r>
              <a:rPr b="1" dirty="0" err="1"/>
              <a:t>индекс</a:t>
            </a:r>
            <a:r>
              <a:rPr dirty="0"/>
              <a:t>: </a:t>
            </a:r>
            <a:br>
              <a:rPr lang="ru-RU" dirty="0"/>
            </a:br>
            <a:r>
              <a:rPr dirty="0" err="1"/>
              <a:t>risk_score</a:t>
            </a:r>
            <a:r>
              <a:rPr dirty="0"/>
              <a:t> = support x (0.5 z(surprise) + 0.3 z(momentum) + 0.2 z(</a:t>
            </a:r>
            <a:r>
              <a:rPr dirty="0" err="1"/>
              <a:t>mean_similarity</a:t>
            </a:r>
            <a:r>
              <a:rPr dirty="0"/>
              <a:t>)).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Метод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400" b="1">
                <a:solidFill>
                  <a:srgbClr val="2A2A2A"/>
                </a:solidFill>
              </a:defRPr>
            </a:pPr>
            <a:r>
              <a:rPr dirty="0" err="1"/>
              <a:t>Построение</a:t>
            </a:r>
            <a:r>
              <a:rPr dirty="0"/>
              <a:t> </a:t>
            </a:r>
            <a:r>
              <a:rPr dirty="0" err="1"/>
              <a:t>регионального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 </a:t>
            </a:r>
            <a:r>
              <a:rPr dirty="0" err="1"/>
              <a:t>риска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Результаты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Ключевые сочетания регионов и тем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 wrap="square" anchor="t"/>
          <a:lstStyle/>
          <a:p>
            <a:pPr>
              <a:buNone/>
              <a:defRPr sz="1000">
                <a:solidFill>
                  <a:srgbClr val="5F5F5F"/>
                </a:solidFill>
              </a:defRPr>
            </a:pPr>
            <a:r>
              <a:t>Численные результаты можно связать с конкретными публикациями. Это делает интерпретацию сигнала содержательной и проверяемой.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37270"/>
              </p:ext>
            </p:extLst>
          </p:nvPr>
        </p:nvGraphicFramePr>
        <p:xfrm>
          <a:off x="468000" y="2010175"/>
          <a:ext cx="5471999" cy="2910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28">
                <a:tc>
                  <a:txBody>
                    <a:bodyPr/>
                    <a:lstStyle/>
                    <a:p>
                      <a:pPr>
                        <a:buNone/>
                        <a:defRPr sz="1000" b="1">
                          <a:solidFill>
                            <a:srgbClr val="2A2A2A"/>
                          </a:solidFill>
                        </a:defRPr>
                      </a:pPr>
                      <a:r>
                        <a:t>Неделя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  <a:defRPr sz="1000" b="1">
                          <a:solidFill>
                            <a:srgbClr val="2A2A2A"/>
                          </a:solidFill>
                        </a:defRPr>
                      </a:pPr>
                      <a:r>
                        <a:t>Регион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  <a:defRPr sz="1000" b="1">
                          <a:solidFill>
                            <a:srgbClr val="2A2A2A"/>
                          </a:solidFill>
                        </a:defRPr>
                      </a:pPr>
                      <a:r>
                        <a:t>Тема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  <a:defRPr sz="1000" b="1">
                          <a:solidFill>
                            <a:srgbClr val="2A2A2A"/>
                          </a:solidFill>
                        </a:defRPr>
                      </a:pPr>
                      <a:r>
                        <a:t>Индекс риска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28"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Manchester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Inflation and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28"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Birmingham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Credit, borrowing and debt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28"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City of Edinburgh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Business demand, output and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28"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Bradford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Inflation and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28"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Stoke-on-Trent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Housing, mortgages, rents and...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1.95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32"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2022-12-26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Aberdeen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t>Energy, food and...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  <a:defRPr sz="1100" b="0">
                          <a:solidFill>
                            <a:srgbClr val="2A2A2A"/>
                          </a:solidFill>
                        </a:defRPr>
                      </a:pPr>
                      <a:r>
                        <a:rPr dirty="0"/>
                        <a:t>1.95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17774" y="1512000"/>
            <a:ext cx="4353790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6262E"/>
                </a:solidFill>
              </a:defRPr>
            </a:pPr>
            <a:r>
              <a:rPr sz="1400" dirty="0" err="1"/>
              <a:t>Примеры</a:t>
            </a:r>
            <a:r>
              <a:rPr sz="1400" dirty="0"/>
              <a:t> </a:t>
            </a:r>
            <a:r>
              <a:rPr sz="1400" dirty="0" err="1"/>
              <a:t>текстовых</a:t>
            </a:r>
            <a:r>
              <a:rPr sz="1400" dirty="0"/>
              <a:t> </a:t>
            </a:r>
            <a:r>
              <a:rPr sz="1400" dirty="0" err="1"/>
              <a:t>фрагментов</a:t>
            </a:r>
            <a:endParaRPr sz="1400" dirty="0"/>
          </a:p>
          <a:p>
            <a:pPr>
              <a:buNone/>
              <a:defRPr sz="1000">
                <a:solidFill>
                  <a:srgbClr val="2A2A2A"/>
                </a:solidFill>
              </a:defRPr>
            </a:pPr>
            <a:r>
              <a:rPr sz="1400" dirty="0"/>
              <a:t>Aberdeen City. Energy, food and administered-price shocks.</a:t>
            </a:r>
            <a:br>
              <a:rPr sz="1400" dirty="0"/>
            </a:br>
            <a:r>
              <a:rPr sz="1400" dirty="0"/>
              <a:t>Councils in the north of Scotland are expecting to be paying an average of 20% more for energy next year.</a:t>
            </a:r>
          </a:p>
          <a:p>
            <a:pPr>
              <a:buNone/>
              <a:defRPr sz="1000">
                <a:solidFill>
                  <a:srgbClr val="2A2A2A"/>
                </a:solidFill>
              </a:defRPr>
            </a:pPr>
            <a:r>
              <a:rPr sz="1400" dirty="0"/>
              <a:t>Armagh City, Banbridge and Craigavon. Household spending and saving.</a:t>
            </a:r>
            <a:br>
              <a:rPr sz="1400" dirty="0"/>
            </a:br>
            <a:r>
              <a:rPr sz="1400" dirty="0"/>
              <a:t>£19 million a year – that’s the estimated total loss to scams each year in Northern Ireland, the Chair of the </a:t>
            </a:r>
            <a:r>
              <a:rPr sz="1400" dirty="0" err="1"/>
              <a:t>ScamwiseNI</a:t>
            </a:r>
            <a:r>
              <a:rPr sz="1400" dirty="0"/>
              <a:t> Partnership has said.</a:t>
            </a:r>
          </a:p>
          <a:p>
            <a:pPr>
              <a:buNone/>
              <a:defRPr sz="1000">
                <a:solidFill>
                  <a:srgbClr val="2A2A2A"/>
                </a:solidFill>
              </a:defRPr>
            </a:pPr>
            <a:r>
              <a:rPr sz="1400" dirty="0"/>
              <a:t>Birmingham. Credit, borrowing and debt conditions.</a:t>
            </a:r>
            <a:br>
              <a:rPr sz="1400" dirty="0"/>
            </a:br>
            <a:r>
              <a:rPr sz="1400" dirty="0"/>
              <a:t>Benefit payments are to start going into accounts early, ahead of the New Year holiday weekend.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1077711"/>
            <a:ext cx="100800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2A2A"/>
                </a:solidFill>
              </a:defRPr>
            </a:pPr>
            <a:r>
              <a:rPr dirty="0" err="1"/>
              <a:t>Результаты</a:t>
            </a:r>
            <a:r>
              <a:rPr dirty="0"/>
              <a:t>: </a:t>
            </a:r>
            <a:r>
              <a:rPr dirty="0" err="1"/>
              <a:t>региональные</a:t>
            </a:r>
            <a:r>
              <a:rPr dirty="0"/>
              <a:t> </a:t>
            </a:r>
            <a:r>
              <a:rPr dirty="0" err="1"/>
              <a:t>карты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68000" y="1761710"/>
            <a:ext cx="95510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rPr dirty="0" err="1"/>
              <a:t>Первая</a:t>
            </a:r>
            <a:r>
              <a:rPr dirty="0"/>
              <a:t>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максимальный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региону</a:t>
            </a:r>
            <a:r>
              <a:rPr dirty="0"/>
              <a:t>. </a:t>
            </a:r>
            <a:r>
              <a:rPr lang="en-US" dirty="0"/>
              <a:t>		</a:t>
            </a:r>
            <a:r>
              <a:rPr dirty="0" err="1"/>
              <a:t>Вторая</a:t>
            </a:r>
            <a:r>
              <a:rPr dirty="0"/>
              <a:t>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доминирующую</a:t>
            </a:r>
            <a:r>
              <a:rPr dirty="0"/>
              <a:t> </a:t>
            </a:r>
            <a:r>
              <a:rPr dirty="0" err="1"/>
              <a:t>тему</a:t>
            </a:r>
            <a:r>
              <a:rPr dirty="0"/>
              <a:t> Bank of England.</a:t>
            </a:r>
          </a:p>
        </p:txBody>
      </p:sp>
      <p:pic>
        <p:nvPicPr>
          <p:cNvPr id="7" name="Picture 6" descr="overall_top_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581" y="2121710"/>
            <a:ext cx="3530837" cy="4031999"/>
          </a:xfrm>
          <a:prstGeom prst="rect">
            <a:avLst/>
          </a:prstGeom>
        </p:spPr>
      </p:pic>
      <p:pic>
        <p:nvPicPr>
          <p:cNvPr id="8" name="Picture 7" descr="dominant_topic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181" y="2121710"/>
            <a:ext cx="3873637" cy="4031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000" y="6090099"/>
            <a:ext cx="4932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5F5F"/>
                </a:solidFill>
              </a:defRPr>
            </a:pP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регионального</a:t>
            </a:r>
            <a:r>
              <a:rPr dirty="0"/>
              <a:t> </a:t>
            </a:r>
            <a:r>
              <a:rPr dirty="0" err="1"/>
              <a:t>риска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529263" y="6012000"/>
            <a:ext cx="4932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5F5F"/>
                </a:solidFill>
              </a:defRPr>
            </a:pPr>
            <a:r>
              <a:rPr dirty="0" err="1"/>
              <a:t>Доминирующая</a:t>
            </a:r>
            <a:r>
              <a:rPr dirty="0"/>
              <a:t> </a:t>
            </a:r>
            <a:r>
              <a:rPr dirty="0" err="1"/>
              <a:t>тема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региону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1041382"/>
            <a:ext cx="100800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2A2A"/>
                </a:solidFill>
              </a:defRPr>
            </a:pPr>
            <a:r>
              <a:t>Результаты: динамика, стек и ограничения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725381"/>
            <a:ext cx="1008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F5F5F"/>
                </a:solidFill>
              </a:defRPr>
            </a:pPr>
            <a:r>
              <a:t>Тренды позволяют увидеть не только отдельные пики, но и устойчивость регионального риска во времени.</a:t>
            </a:r>
          </a:p>
        </p:txBody>
      </p:sp>
      <p:pic>
        <p:nvPicPr>
          <p:cNvPr id="7" name="Picture 6" descr="overall_region_risk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64" y="2121382"/>
            <a:ext cx="5179871" cy="33119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8000" y="5505382"/>
            <a:ext cx="651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5F5F"/>
                </a:solidFill>
              </a:defRPr>
            </a:pPr>
            <a:r>
              <a:rPr dirty="0" err="1"/>
              <a:t>Динамика</a:t>
            </a:r>
            <a:r>
              <a:rPr dirty="0"/>
              <a:t> </a:t>
            </a:r>
            <a:r>
              <a:rPr dirty="0" err="1"/>
              <a:t>совокупного</a:t>
            </a:r>
            <a:r>
              <a:rPr dirty="0"/>
              <a:t> </a:t>
            </a:r>
            <a:r>
              <a:rPr dirty="0" err="1"/>
              <a:t>регионального</a:t>
            </a:r>
            <a:r>
              <a:rPr dirty="0"/>
              <a:t> </a:t>
            </a:r>
            <a:r>
              <a:rPr dirty="0" err="1"/>
              <a:t>риска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200000" y="2193382"/>
            <a:ext cx="3131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b="1" dirty="0" err="1"/>
              <a:t>Использованный</a:t>
            </a:r>
            <a:r>
              <a:rPr b="1" dirty="0"/>
              <a:t> </a:t>
            </a:r>
            <a:r>
              <a:rPr b="1" dirty="0" err="1"/>
              <a:t>стек</a:t>
            </a:r>
            <a:br>
              <a:rPr dirty="0"/>
            </a:br>
            <a:r>
              <a:rPr dirty="0"/>
              <a:t>Python</a:t>
            </a:r>
            <a:br>
              <a:rPr dirty="0"/>
            </a:br>
            <a:r>
              <a:rPr dirty="0"/>
              <a:t>pandas, </a:t>
            </a:r>
            <a:r>
              <a:rPr dirty="0" err="1"/>
              <a:t>numpy</a:t>
            </a:r>
            <a:r>
              <a:rPr dirty="0"/>
              <a:t>, </a:t>
            </a:r>
            <a:r>
              <a:rPr dirty="0" err="1"/>
              <a:t>pyarrow</a:t>
            </a:r>
            <a:br>
              <a:rPr dirty="0"/>
            </a:br>
            <a:r>
              <a:rPr dirty="0"/>
              <a:t>sentence-transformers</a:t>
            </a:r>
            <a:br>
              <a:rPr dirty="0"/>
            </a:br>
            <a:r>
              <a:rPr dirty="0"/>
              <a:t>matplotlib и seaborn</a:t>
            </a:r>
            <a:br>
              <a:rPr dirty="0"/>
            </a:br>
            <a:r>
              <a:rPr dirty="0"/>
              <a:t>YAML-</a:t>
            </a:r>
            <a:r>
              <a:rPr dirty="0" err="1"/>
              <a:t>конфигурации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199999" y="3660873"/>
            <a:ext cx="3131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b="1" dirty="0" err="1"/>
              <a:t>Ограничения</a:t>
            </a:r>
            <a:br>
              <a:rPr dirty="0"/>
            </a:b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прогон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пилотным</a:t>
            </a:r>
            <a:r>
              <a:rPr dirty="0"/>
              <a:t> </a:t>
            </a:r>
            <a:r>
              <a:rPr dirty="0" err="1"/>
              <a:t>семантическим</a:t>
            </a:r>
            <a:r>
              <a:rPr dirty="0"/>
              <a:t> </a:t>
            </a:r>
            <a:r>
              <a:rPr dirty="0" err="1"/>
              <a:t>анализом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выборке</a:t>
            </a:r>
            <a:r>
              <a:rPr dirty="0"/>
              <a:t>.</a:t>
            </a:r>
            <a:br>
              <a:rPr dirty="0"/>
            </a:br>
            <a:r>
              <a:rPr dirty="0" err="1"/>
              <a:t>Ручная</a:t>
            </a:r>
            <a:r>
              <a:rPr dirty="0"/>
              <a:t> </a:t>
            </a:r>
            <a:r>
              <a:rPr dirty="0" err="1"/>
              <a:t>калибровка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размеченной</a:t>
            </a:r>
            <a:r>
              <a:rPr dirty="0"/>
              <a:t> </a:t>
            </a:r>
            <a:r>
              <a:rPr dirty="0" err="1"/>
              <a:t>выборке</a:t>
            </a:r>
            <a:r>
              <a:rPr dirty="0"/>
              <a:t>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выполнена</a:t>
            </a:r>
            <a:r>
              <a:rPr dirty="0"/>
              <a:t>.</a:t>
            </a:r>
            <a:br>
              <a:rPr dirty="0"/>
            </a:br>
            <a:r>
              <a:rPr dirty="0" err="1"/>
              <a:t>Пороговые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чувствительны</a:t>
            </a:r>
            <a:r>
              <a:rPr dirty="0"/>
              <a:t> к </a:t>
            </a:r>
            <a:r>
              <a:rPr dirty="0" err="1"/>
              <a:t>настройке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b="1" dirty="0" err="1"/>
              <a:t>Следующий</a:t>
            </a:r>
            <a:r>
              <a:rPr b="1" dirty="0"/>
              <a:t> </a:t>
            </a:r>
            <a:r>
              <a:rPr b="1" dirty="0" err="1"/>
              <a:t>шаг</a:t>
            </a:r>
            <a:br>
              <a:rPr dirty="0"/>
            </a:b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прогон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корпусу</a:t>
            </a:r>
            <a:r>
              <a:rPr dirty="0"/>
              <a:t>, </a:t>
            </a:r>
            <a:r>
              <a:rPr dirty="0" err="1"/>
              <a:t>валидационная</a:t>
            </a:r>
            <a:r>
              <a:rPr dirty="0"/>
              <a:t> </a:t>
            </a:r>
            <a:r>
              <a:rPr dirty="0" err="1"/>
              <a:t>выборка</a:t>
            </a:r>
            <a:r>
              <a:rPr dirty="0"/>
              <a:t> и </a:t>
            </a:r>
            <a:r>
              <a:rPr dirty="0" err="1"/>
              <a:t>сопоставление</a:t>
            </a:r>
            <a:r>
              <a:rPr dirty="0"/>
              <a:t> с </a:t>
            </a:r>
            <a:r>
              <a:rPr dirty="0" err="1"/>
              <a:t>реальными</a:t>
            </a:r>
            <a:r>
              <a:rPr dirty="0"/>
              <a:t> </a:t>
            </a:r>
            <a:r>
              <a:rPr dirty="0" err="1"/>
              <a:t>коммуникационными</a:t>
            </a:r>
            <a:r>
              <a:rPr dirty="0"/>
              <a:t> </a:t>
            </a:r>
            <a:r>
              <a:rPr dirty="0" err="1"/>
              <a:t>событиями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F6FE-1C33-4625-E2D7-CAFFB261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542FD-2160-D410-803C-75B44E04A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29398-6A8F-FF47-0C7F-3F27C1D84A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E5752-1C28-C5FC-0079-4BA4FEBCA7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3DC8D-B661-6241-B7C0-39A0322F7242}"/>
              </a:ext>
            </a:extLst>
          </p:cNvPr>
          <p:cNvSpPr txBox="1"/>
          <p:nvPr/>
        </p:nvSpPr>
        <p:spPr>
          <a:xfrm>
            <a:off x="468000" y="1041382"/>
            <a:ext cx="16815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2A2A"/>
                </a:solidFill>
              </a:defRPr>
            </a:pPr>
            <a:r>
              <a:rPr dirty="0" err="1"/>
              <a:t>Результаты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AE7C1-74E8-8F38-F42F-83801A99A6D0}"/>
              </a:ext>
            </a:extLst>
          </p:cNvPr>
          <p:cNvSpPr txBox="1"/>
          <p:nvPr/>
        </p:nvSpPr>
        <p:spPr>
          <a:xfrm>
            <a:off x="468000" y="5202000"/>
            <a:ext cx="651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5F5F"/>
                </a:solidFill>
              </a:defRPr>
            </a:pPr>
            <a:r>
              <a:t>Динамика совокупного регионального риска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531C9FD-13B0-2C45-CC5D-1C7504DEB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60" y="1620982"/>
            <a:ext cx="4394991" cy="501880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059E9B2-D30D-1626-2B2C-5883BBF54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022" y="1383198"/>
            <a:ext cx="4621418" cy="52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92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2ECF-34A2-951D-0AAA-0F8294DF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730316-A1E4-90F8-70C1-B683B126A4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Итоговый проект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D7714-0B87-7E46-D206-276FA23801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Семантическая карта региональной медиаповестки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0EBF7-FEA7-BCEB-3AE4-2DB84F2209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7B0D7-9689-06BF-F2F5-C5B04BD2E616}"/>
              </a:ext>
            </a:extLst>
          </p:cNvPr>
          <p:cNvSpPr txBox="1"/>
          <p:nvPr/>
        </p:nvSpPr>
        <p:spPr>
          <a:xfrm>
            <a:off x="468000" y="1041382"/>
            <a:ext cx="16815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2A2A"/>
                </a:solidFill>
              </a:defRPr>
            </a:pPr>
            <a:r>
              <a:rPr dirty="0" err="1"/>
              <a:t>Результаты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939B8-8659-53DA-3064-BE8542CA73E1}"/>
              </a:ext>
            </a:extLst>
          </p:cNvPr>
          <p:cNvSpPr txBox="1"/>
          <p:nvPr/>
        </p:nvSpPr>
        <p:spPr>
          <a:xfrm>
            <a:off x="468000" y="5202000"/>
            <a:ext cx="651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5F5F"/>
                </a:solidFill>
              </a:defRPr>
            </a:pPr>
            <a:r>
              <a:t>Динамика совокупного регионального риска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681B46-290C-53DC-A989-3685D7A23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923" y="1611456"/>
            <a:ext cx="7693885" cy="491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6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1955</TotalTime>
  <Words>1918</Words>
  <Application>Microsoft Office PowerPoint</Application>
  <PresentationFormat>Широкоэкранный</PresentationFormat>
  <Paragraphs>179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HSE Sans</vt:lpstr>
      <vt:lpstr>Office Theme</vt:lpstr>
      <vt:lpstr>Семантическая карта региональных медиа-повесток Великобритании для коммуникации ЦБ Англии (BoE)</vt:lpstr>
      <vt:lpstr>Постановка задачи</vt:lpstr>
      <vt:lpstr>Датасет: источник и пригодность</vt:lpstr>
      <vt:lpstr>Структура и охват корпуса</vt:lpstr>
      <vt:lpstr>Очистка и нормализация текстов</vt:lpstr>
      <vt:lpstr>Отбор экономически релевантных статей</vt:lpstr>
      <vt:lpstr>Присвоение тем Bank of England</vt:lpstr>
      <vt:lpstr>Построение регионального индекса риска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Иван Цариков</cp:lastModifiedBy>
  <cp:revision>28</cp:revision>
  <cp:lastPrinted>2021-11-11T13:08:42Z</cp:lastPrinted>
  <dcterms:created xsi:type="dcterms:W3CDTF">2021-11-11T08:52:47Z</dcterms:created>
  <dcterms:modified xsi:type="dcterms:W3CDTF">2026-04-03T17:30:59Z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